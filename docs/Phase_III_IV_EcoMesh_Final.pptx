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delivery</c:v>
                </c:pt>
              </c:strCache>
            </c:strRef>
          </c:tx>
          <c:spPr>
            <a:ln w="31750">
              <a:solidFill>
                <a:srgbClr val="5B9CF0"/>
              </a:solidFill>
            </a:ln>
          </c:spPr>
          <c:marker>
            <c:spPr>
              <a:solidFill>
                <a:srgbClr val="5B9CF0"/>
              </a:solidFill>
              <a:ln>
                <a:solidFill>
                  <a:srgbClr val="5B9CF0"/>
                </a:solidFill>
              </a:ln>
            </c:spPr>
          </c:marker>
          <c:cat>
            <c:strRef>
              <c:f>Sheet1!$A$2:$A$7</c:f>
              <c:strCache>
                <c:ptCount val="6"/>
                <c:pt idx="0">
                  <c:v>0%</c:v>
                </c:pt>
                <c:pt idx="1">
                  <c:v>10%</c:v>
                </c:pt>
                <c:pt idx="2">
                  <c:v>20%</c:v>
                </c:pt>
                <c:pt idx="3">
                  <c:v>30%</c:v>
                </c:pt>
                <c:pt idx="4">
                  <c:v>40%</c:v>
                </c:pt>
                <c:pt idx="5">
                  <c:v>50%</c:v>
                </c:pt>
              </c:strCache>
            </c:strRef>
          </c:cat>
          <c:val>
            <c:numRef>
              <c:f>Sheet1!$B$2:$B$7</c:f>
              <c:numCache>
                <c:formatCode>General</c:formatCode>
                <c:ptCount val="6"/>
                <c:pt idx="0">
                  <c:v>100.0</c:v>
                </c:pt>
                <c:pt idx="1">
                  <c:v>100.0</c:v>
                </c:pt>
                <c:pt idx="2">
                  <c:v>98.8</c:v>
                </c:pt>
                <c:pt idx="3">
                  <c:v>86.9</c:v>
                </c:pt>
                <c:pt idx="4">
                  <c:v>77.0</c:v>
                </c:pt>
                <c:pt idx="5">
                  <c:v>71.4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BE2"/>
            </a:solidFill>
          </a:ln>
        </c:spPr>
        <c:txPr>
          <a:bodyPr/>
          <a:lstStyle/>
          <a:p>
            <a:pPr>
              <a:defRPr sz="1200">
                <a:solidFill>
                  <a:srgbClr val="14181D"/>
                </a:solidFill>
              </a:defRPr>
            </a:pPr>
          </a:p>
        </c:txPr>
        <c:crossAx val="2140495176"/>
        <c:crosses val="autoZero"/>
        <c:auto val="1"/>
        <c:lblAlgn val="ctr"/>
        <c:lblOffset val="100"/>
        <c:noMultiLvlLbl val="0"/>
      </c:catAx>
      <c:valAx>
        <c:axId val="2140495176"/>
        <c:scaling>
          <c:max val="100.0"/>
          <c:min val="40.0"/>
        </c:scaling>
        <c:delete val="0"/>
        <c:axPos val="l"/>
        <c:majorGridlines>
          <c:spPr>
            <a:ln>
              <a:solidFill>
                <a:srgbClr val="D5DBE2"/>
              </a:solidFill>
            </a:ln>
          </c:spPr>
        </c:majorGridlines>
        <c:numFmt formatCode="0&quot;%&quot;" sourceLinked="0"/>
        <c:majorTickMark val="out"/>
        <c:minorTickMark val="none"/>
        <c:tickLblPos val="nextTo"/>
        <c:spPr>
          <a:ln>
            <a:noFill/>
          </a:ln>
        </c:spPr>
        <c:txPr>
          <a:bodyPr/>
          <a:lstStyle/>
          <a:p>
            <a:pPr>
              <a:defRPr sz="1200">
                <a:solidFill>
                  <a:srgbClr val="4D5864"/>
                </a:solidFill>
              </a:defRPr>
            </a:pPr>
          </a:p>
        </c:txPr>
        <c:crossAx val="2118791784"/>
        <c:crosses val="autoZero"/>
      </c:valAx>
    </c:plotArea>
    <c:plotVisOnly val="1"/>
    <c:dispBlanksAs val="gap"/>
    <c:showDLblsOverMax val="0"/>
  </c:chart>
  <c:txPr>
    <a:bodyPr/>
    <a:lstStyle/>
    <a:p>
      <a:pPr>
        <a:defRPr sz="1200">
          <a:solidFill>
            <a:srgbClr val="4D5864"/>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delivery</c:v>
                </c:pt>
              </c:strCache>
            </c:strRef>
          </c:tx>
          <c:dPt>
            <c:idx val="0"/>
            <c:spPr>
              <a:solidFill>
                <a:srgbClr val="9AA4B0"/>
              </a:solidFill>
            </c:spPr>
          </c:dPt>
          <c:dPt>
            <c:idx val="1"/>
            <c:spPr>
              <a:solidFill>
                <a:srgbClr val="5B9CF0"/>
              </a:solidFill>
            </c:spPr>
          </c:dPt>
          <c:cat>
            <c:strRef>
              <c:f>Sheet1!$A$2:$A$3</c:f>
              <c:strCache>
                <c:ptCount val="2"/>
                <c:pt idx="0">
                  <c:v>Hop count</c:v>
                </c:pt>
                <c:pt idx="1">
                  <c:v>Weighted</c:v>
                </c:pt>
              </c:strCache>
            </c:strRef>
          </c:cat>
          <c:val>
            <c:numRef>
              <c:f>Sheet1!$B$2:$B$3</c:f>
              <c:numCache>
                <c:formatCode>General</c:formatCode>
                <c:ptCount val="2"/>
                <c:pt idx="0">
                  <c:v>57.4</c:v>
                </c:pt>
                <c:pt idx="1">
                  <c:v>99.2</c:v>
                </c:pt>
              </c:numCache>
            </c:numRef>
          </c:val>
        </c:ser>
        <c:dLbls>
          <c:numFmt formatCode="0.0&quot;%&quot;" sourceLinked="0"/>
          <c:txPr>
            <a:bodyPr/>
            <a:lstStyle/>
            <a:p>
              <a:pPr>
                <a:defRPr sz="1400" b="1">
                  <a:solidFill>
                    <a:srgbClr val="14181D"/>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2"/>
            </a:solidFill>
          </a:ln>
        </c:spPr>
        <c:txPr>
          <a:bodyPr/>
          <a:lstStyle/>
          <a:p>
            <a:pPr>
              <a:defRPr sz="1200">
                <a:solidFill>
                  <a:srgbClr val="14181D"/>
                </a:solidFill>
              </a:defRPr>
            </a:pPr>
          </a:p>
        </c:txPr>
        <c:crossAx val="-2113994440"/>
        <c:crosses val="autoZero"/>
        <c:auto val="1"/>
        <c:lblAlgn val="ctr"/>
        <c:lblOffset val="100"/>
        <c:noMultiLvlLbl val="0"/>
      </c:catAx>
      <c:valAx>
        <c:axId val="-2113994440"/>
        <c:scaling>
          <c:max val="115.0"/>
          <c:min val="0.0"/>
        </c:scaling>
        <c:delete val="0"/>
        <c:axPos val="l"/>
        <c:majorTickMark val="none"/>
        <c:minorTickMark val="none"/>
        <c:tickLblPos val="none"/>
        <c:spPr>
          <a:ln>
            <a:noFill/>
          </a:ln>
        </c:spPr>
        <c:txPr>
          <a:bodyPr/>
          <a:lstStyle/>
          <a:p>
            <a:pPr>
              <a:defRPr sz="1200">
                <a:solidFill>
                  <a:srgbClr val="4D5864"/>
                </a:solidFill>
              </a:defRPr>
            </a:pPr>
          </a:p>
        </c:txPr>
        <c:crossAx val="-2068027336"/>
        <c:crosses val="autoZero"/>
      </c:valAx>
    </c:plotArea>
    <c:dispBlanksAs val="gap"/>
  </c:chart>
  <c:txPr>
    <a:bodyPr/>
    <a:lstStyle/>
    <a:p>
      <a:pPr>
        <a:defRPr sz="1200">
          <a:solidFill>
            <a:srgbClr val="4D5864"/>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ms</c:v>
                </c:pt>
              </c:strCache>
            </c:strRef>
          </c:tx>
          <c:dPt>
            <c:idx val="0"/>
            <c:spPr>
              <a:solidFill>
                <a:srgbClr val="9AA4B0"/>
              </a:solidFill>
            </c:spPr>
          </c:dPt>
          <c:dPt>
            <c:idx val="1"/>
            <c:spPr>
              <a:solidFill>
                <a:srgbClr val="E0464C"/>
              </a:solidFill>
            </c:spPr>
          </c:dPt>
          <c:cat>
            <c:strRef>
              <c:f>Sheet1!$A$2:$A$3</c:f>
              <c:strCache>
                <c:ptCount val="2"/>
                <c:pt idx="0">
                  <c:v>Routine</c:v>
                </c:pt>
                <c:pt idx="1">
                  <c:v>SOS</c:v>
                </c:pt>
              </c:strCache>
            </c:strRef>
          </c:cat>
          <c:val>
            <c:numRef>
              <c:f>Sheet1!$B$2:$B$3</c:f>
              <c:numCache>
                <c:formatCode>General</c:formatCode>
                <c:ptCount val="2"/>
                <c:pt idx="0">
                  <c:v>2373</c:v>
                </c:pt>
                <c:pt idx="1">
                  <c:v>540</c:v>
                </c:pt>
              </c:numCache>
            </c:numRef>
          </c:val>
        </c:ser>
        <c:dLbls>
          <c:numFmt formatCode="#,##0" sourceLinked="0"/>
          <c:txPr>
            <a:bodyPr/>
            <a:lstStyle/>
            <a:p>
              <a:pPr>
                <a:defRPr sz="1400" b="1">
                  <a:solidFill>
                    <a:srgbClr val="14181D"/>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BE2"/>
            </a:solidFill>
          </a:ln>
        </c:spPr>
        <c:txPr>
          <a:bodyPr/>
          <a:lstStyle/>
          <a:p>
            <a:pPr>
              <a:defRPr sz="1200">
                <a:solidFill>
                  <a:srgbClr val="14181D"/>
                </a:solidFill>
              </a:defRPr>
            </a:pPr>
          </a:p>
        </c:txPr>
        <c:crossAx val="-2113994440"/>
        <c:crosses val="autoZero"/>
        <c:auto val="1"/>
        <c:lblAlgn val="ctr"/>
        <c:lblOffset val="100"/>
        <c:noMultiLvlLbl val="0"/>
      </c:catAx>
      <c:valAx>
        <c:axId val="-2113994440"/>
        <c:scaling>
          <c:max val="2847.9"/>
          <c:min val="0.0"/>
        </c:scaling>
        <c:delete val="0"/>
        <c:axPos val="l"/>
        <c:majorTickMark val="none"/>
        <c:minorTickMark val="none"/>
        <c:tickLblPos val="none"/>
        <c:spPr>
          <a:ln>
            <a:noFill/>
          </a:ln>
        </c:spPr>
        <c:txPr>
          <a:bodyPr/>
          <a:lstStyle/>
          <a:p>
            <a:pPr>
              <a:defRPr sz="1200">
                <a:solidFill>
                  <a:srgbClr val="4D5864"/>
                </a:solidFill>
              </a:defRPr>
            </a:pPr>
          </a:p>
        </c:txPr>
        <c:crossAx val="-2068027336"/>
        <c:crosses val="autoZero"/>
      </c:valAx>
    </c:plotArea>
    <c:dispBlanksAs val="gap"/>
  </c:chart>
  <c:txPr>
    <a:bodyPr/>
    <a:lstStyle/>
    <a:p>
      <a:pPr>
        <a:defRPr sz="1200">
          <a:solidFill>
            <a:srgbClr val="4D5864"/>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Group 20: Twissha Shah, Miti Shah and Tanvi Sheth, guided by Prof. Anuj Tawari. EcoMesh is a disaster-relief communication mesh: when towers and internet are gone, every phone becomes a relay so that an SOS can hop from device to device until it reaches a rescue team. In the next twenty minutes we cover Phase III, the engine and how we managed the code, and Phase IV, the integrated app, the testing and the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In a disaster the towers fail or are overloaded, and apps like WhatsApp need a far-away server, so they fail even between two people in the same building. The insight is that connectivity is never fully zero: phones still have battery and can still reach nearby devices. EcoMesh turns every device into both an endpoint and a relay. The picture shows the idea: a trapped person's SOS hops through another phone and a gateway to the rescue team, with no server involved.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At the bottom is the engine: discovery, routing, reliability, security and the log, about 2,849 lines in eleven modules. Above it, an API and a simulation lab, which we used to run the experiments. And the single app: one web page that each device serves, which turns into a survivor phone, a gateway view or the rescue console. We want to be clear about one thing now rather than be asked later: the radio is emulated. Real packets cross real TCP connections, but a configuration file decides who can hear whom. A real phone app would swap that transport for Bluetooth or Wi-Fi Direct.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III was module-wise coding, and each module has its own tests. Tanvi built the packet format and transport in Phase 1. Miti built discovery and the relay in Phase 2. In Phase 3, Twissha wrote the link-state gossip and the cost function and wired everything into the node; Miti wrote Dijkstra, the reliability layer, the cryptography and the SQLite log. In Phase 4, Tanvi built the API and the simulation lab and the fixes that integration forced; Twissha built the device app and the multi-device demo; Miti built the device server endpoints. This table is taken from our contribution 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one SOS travels. The router runs Dijkstra over a graph that every node builds from its neighbours' reports. The cost of a link is one, plus five times one minus the link quality, plus three times the recent failures. So a link that loses 45 percent of beacons costs 3.25 instead of one, and the router will happily take a longer clean path. The payload is encrypted with AES-256-GCM and the identity is signed with Ed25519, so relays cannot read or forge it. At every hop the priority queue sends SOS first. The receiver acknowledges; if the acknowledgement does not come back, the sender retries on a recomputed route. And if there is no route at all, the message is held, not dropped, and sent when a path appears.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and branching. Phase 2 of the college plan asked us to set up the repository and a branching strategy. We use one branch per phase, and each branch inherits everything before it, so a reviewer can check out the branch for Phase 3 and see exactly what existed then. We never merge between phase branches, and main is reserved for tagged releases. The counts on screen are cumulative commits read from git: develop 14, develop_2 16, develop_3 39, develop_4 48, develop_5 56, develop_6 84. We use Conventional Commits; 78 of 84 commits follow the format, and the exceptions are from the first weeks. The commit counts by member are Twissha 31   Miti 31   Tanvi 22.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IV, integration of front end and back end. We started with a React website and a Python API, and ended with something simpler and more honest: one app. Each device runs the full engine and serves one web page. Depending on the device's role the page becomes the survivor phone, the gateway view or the rescue console. On the left is the survivor's screen after delivery. On the right is the rescue console, showing the request, its need and location, and the route it took. A phone is only a screen here: the engine runs on a laptop and the phone opens its page over the same Wi-Fi. The React website stays in the repository as the simulation lab that produced our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is where bugs hide that unit tests cannot see. These seven defects were found by wiring things together or by hammering them. D2 is the most important: multi-hop acknowledgements did not work at all, because the duplicate filter dropped every ACK at the first relay its data had crossed, and swallowed retries. D4 was found by fuzzing: random bytes made the parser raise the wrong exception. D6, the two flaky tests, is closed. D7 is open, and we want to be transparent about it: a history test fails occasionally because two messages created in the same millisecond have no defined order. It is open and reported to its owner.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story we tell in the live demo. One: the survivor holds the SOS button; it reaches the rescue console through Phone 2 and the gateway. Two: we switch off the relay; the live activity panel shows the lost contact, and the next SOS still arrives by the other path. Three: we switch off the gateway. There is no route, so the survivor's phone says Saved, waiting for a path, and keeps the message. Four: the gateway comes back, and within seconds the held message is sent and the screen confirms it. The whole script, with set-up and likely questions, is in docs/DEMO_SCRIPT.md.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 testing asks whether each feature does what the specification says. A fresh run of the suite just now passed 331 tests in 27 seconds. Our SRS has 68 numbered functional requirements and every one is traced to the test or check that verifies it: 64 are fully verified by automated tests, 12 of them with a manual look at the screen. The remaining 4 are marked partly implemented, verified by inspection or by a manual check, and the testing document says which. We also drive the real device screens in a browser, pressing the buttons a user would press, and record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Non-functional testing asks how well. We fixed ten targets in the project plan before measuring, and 7 of them are fully met. The left chart shows delivery staying at 100 percent up to 10 percent loss on every link and degrading gracefully after that. The middle chart is the central claim of the routing design: on identical seeds, weighted routing delivered 99.2 percent against 57.4 percent for hop-count routing. The right chart shows that under congestion the median SOS arrives 4.4 times faster than routine traffic. And here are the misses, because we would rather you hear them from us: K2 convergence; K3 recovery after relay death; K9 correctness. Delivery was 92.6% on a 40-node mesh with 20 percent loss and failures; recovery time is limited by the ten-second heartbeat; and at 20 percent loss delivery is 92.9 percent at 50 nodes but 83.1 percent at 65.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IV also asked for a report. Ours is 40 pages in eleven chapters, following the department template and the report guidelines. What we are proud of is that the numbers are not typed in: the measurements are saved as data, scripts turn them into tables, and the report includes those tables, so any change to the code can be re-measured and the report rebuilt. There is also a separate, detailed testing document, and a one-page poster for the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finish with honesty. This is a measured prototype of the routing and reliability layer. The radio is emulated: real packets over TCP, but a config file decides who can hear whom. There is no real phone app; a phone shows a web page served by a laptop. One shared key protects the mesh, which is a real limitation, and per-pair keys are future work. We also tried a faster failure detector, shortening the neighbour timeout from ten seconds to seven, hoping to improve recovery time. It lowered delivery at 20 percent loss, so we dropped it and report recovery time honestly as partly met. Finally, our timings come from one machine and we have not done a timed usability study.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who built what: Twissha built the link-state gossip and cost function, the node integration, the device app and the multi-device demo; Miti built discovery, the relay, Dijkstra, the reliability layer, the security and the log, and the device server; Tanvi built the packet format and transport, the API and simulation lab, and the testing documents, deck and poster. The code, the report and the testing document are all in the repository; the QR code opens it. Thank you; we are happy to take questions, and to show any part of the demo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4"/>
        </a:solidFill>
        <a:effectLst/>
      </p:bgPr>
    </p:bg>
    <p:spTree>
      <p:nvGrpSpPr>
        <p:cNvPr id="1" name=""/>
        <p:cNvGrpSpPr/>
        <p:nvPr/>
      </p:nvGrpSpPr>
      <p:grpSpPr/>
      <p:sp>
        <p:nvSpPr>
          <p:cNvPr id="2" name="TextBox 1"/>
          <p:cNvSpPr txBox="1"/>
          <p:nvPr/>
        </p:nvSpPr>
        <p:spPr>
          <a:xfrm>
            <a:off x="731520" y="640080"/>
            <a:ext cx="8229600" cy="274320"/>
          </a:xfrm>
          <a:prstGeom prst="rect">
            <a:avLst/>
          </a:prstGeom>
          <a:noFill/>
        </p:spPr>
        <p:txBody>
          <a:bodyPr wrap="square" lIns="0" rIns="0" tIns="0" bIns="0" anchor="t">
            <a:spAutoFit/>
          </a:bodyPr>
          <a:lstStyle/>
          <a:p>
            <a:pPr algn="l">
              <a:lnSpc>
                <a:spcPct val="110000"/>
              </a:lnSpc>
            </a:pPr>
            <a:r>
              <a:rPr sz="1200" b="1" i="0">
                <a:solidFill>
                  <a:srgbClr val="A6AFB9"/>
                </a:solidFill>
                <a:latin typeface="Segoe UI"/>
              </a:rPr>
              <a:t>MINI PROJECT I  ·  T.E. SEMESTER V  ·  SPIT</a:t>
            </a:r>
          </a:p>
        </p:txBody>
      </p:sp>
      <p:sp>
        <p:nvSpPr>
          <p:cNvPr id="3" name="TextBox 2"/>
          <p:cNvSpPr txBox="1"/>
          <p:nvPr/>
        </p:nvSpPr>
        <p:spPr>
          <a:xfrm>
            <a:off x="731520" y="1737360"/>
            <a:ext cx="7315200" cy="1188720"/>
          </a:xfrm>
          <a:prstGeom prst="rect">
            <a:avLst/>
          </a:prstGeom>
          <a:noFill/>
        </p:spPr>
        <p:txBody>
          <a:bodyPr wrap="square" lIns="0" rIns="0" tIns="0" bIns="0" anchor="t">
            <a:spAutoFit/>
          </a:bodyPr>
          <a:lstStyle/>
          <a:p>
            <a:pPr algn="l">
              <a:lnSpc>
                <a:spcPct val="110000"/>
              </a:lnSpc>
            </a:pPr>
            <a:r>
              <a:rPr sz="6600" b="1" i="0">
                <a:solidFill>
                  <a:srgbClr val="EEF1F4"/>
                </a:solidFill>
                <a:latin typeface="Segoe UI"/>
              </a:rPr>
              <a:t>EcoMesh</a:t>
            </a:r>
          </a:p>
        </p:txBody>
      </p:sp>
      <p:sp>
        <p:nvSpPr>
          <p:cNvPr id="4" name="TextBox 3"/>
          <p:cNvSpPr txBox="1"/>
          <p:nvPr/>
        </p:nvSpPr>
        <p:spPr>
          <a:xfrm>
            <a:off x="731520" y="2971800"/>
            <a:ext cx="6583680" cy="914400"/>
          </a:xfrm>
          <a:prstGeom prst="rect">
            <a:avLst/>
          </a:prstGeom>
          <a:noFill/>
        </p:spPr>
        <p:txBody>
          <a:bodyPr wrap="square" lIns="0" rIns="0" tIns="0" bIns="0" anchor="t">
            <a:spAutoFit/>
          </a:bodyPr>
          <a:lstStyle/>
          <a:p>
            <a:pPr algn="l">
              <a:lnSpc>
                <a:spcPct val="115000"/>
              </a:lnSpc>
            </a:pPr>
            <a:r>
              <a:rPr sz="2400" b="0" i="0">
                <a:solidFill>
                  <a:srgbClr val="A6AFB9"/>
                </a:solidFill>
                <a:latin typeface="Segoe UI"/>
              </a:rPr>
              <a:t>Distributed peer-to-peer
disaster-relief communication mesh</a:t>
            </a:r>
          </a:p>
        </p:txBody>
      </p:sp>
      <p:sp>
        <p:nvSpPr>
          <p:cNvPr id="5" name="TextBox 4"/>
          <p:cNvSpPr txBox="1"/>
          <p:nvPr/>
        </p:nvSpPr>
        <p:spPr>
          <a:xfrm>
            <a:off x="731520" y="4160520"/>
            <a:ext cx="7315200" cy="365760"/>
          </a:xfrm>
          <a:prstGeom prst="rect">
            <a:avLst/>
          </a:prstGeom>
          <a:noFill/>
        </p:spPr>
        <p:txBody>
          <a:bodyPr wrap="square" lIns="0" rIns="0" tIns="0" bIns="0" anchor="t">
            <a:spAutoFit/>
          </a:bodyPr>
          <a:lstStyle/>
          <a:p>
            <a:pPr algn="l">
              <a:lnSpc>
                <a:spcPct val="110000"/>
              </a:lnSpc>
            </a:pPr>
            <a:r>
              <a:rPr sz="1800" b="1" i="0">
                <a:solidFill>
                  <a:srgbClr val="5B9CF0"/>
                </a:solidFill>
                <a:latin typeface="Segoe UI"/>
              </a:rPr>
              <a:t>Phase III and Phase IV  ·  Group 20</a:t>
            </a:r>
          </a:p>
        </p:txBody>
      </p:sp>
      <p:cxnSp>
        <p:nvCxnSpPr>
          <p:cNvPr id="6" name="Connector 5"/>
          <p:cNvCxnSpPr/>
          <p:nvPr/>
        </p:nvCxnSpPr>
        <p:spPr>
          <a:xfrm>
            <a:off x="731520" y="4800600"/>
            <a:ext cx="6217920" cy="0"/>
          </a:xfrm>
          <a:prstGeom prst="line">
            <a:avLst/>
          </a:prstGeom>
          <a:ln w="12700">
            <a:solidFill>
              <a:srgbClr val="2A303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5029200"/>
            <a:ext cx="6400800" cy="365760"/>
          </a:xfrm>
          <a:prstGeom prst="rect">
            <a:avLst/>
          </a:prstGeom>
          <a:noFill/>
        </p:spPr>
        <p:txBody>
          <a:bodyPr wrap="square" lIns="0" rIns="0" tIns="0" bIns="0" anchor="t">
            <a:spAutoFit/>
          </a:bodyPr>
          <a:lstStyle/>
          <a:p>
            <a:pPr algn="l">
              <a:lnSpc>
                <a:spcPct val="110000"/>
              </a:lnSpc>
            </a:pPr>
            <a:r>
              <a:rPr sz="1700" b="0" i="0">
                <a:solidFill>
                  <a:srgbClr val="EEF1F4"/>
                </a:solidFill>
                <a:latin typeface="Segoe UI"/>
              </a:rPr>
              <a:t>Twissha Shah   ·   Miti Shah   ·   Tanvi Sheth</a:t>
            </a:r>
          </a:p>
        </p:txBody>
      </p:sp>
      <p:sp>
        <p:nvSpPr>
          <p:cNvPr id="8" name="TextBox 7"/>
          <p:cNvSpPr txBox="1"/>
          <p:nvPr/>
        </p:nvSpPr>
        <p:spPr>
          <a:xfrm>
            <a:off x="731520" y="5486400"/>
            <a:ext cx="6400800" cy="320040"/>
          </a:xfrm>
          <a:prstGeom prst="rect">
            <a:avLst/>
          </a:prstGeom>
          <a:noFill/>
        </p:spPr>
        <p:txBody>
          <a:bodyPr wrap="square" lIns="0" rIns="0" tIns="0" bIns="0" anchor="t">
            <a:spAutoFit/>
          </a:bodyPr>
          <a:lstStyle/>
          <a:p>
            <a:pPr algn="l">
              <a:lnSpc>
                <a:spcPct val="110000"/>
              </a:lnSpc>
            </a:pPr>
            <a:r>
              <a:rPr sz="1400" b="0" i="0">
                <a:solidFill>
                  <a:srgbClr val="A6AFB9"/>
                </a:solidFill>
                <a:latin typeface="Segoe UI"/>
              </a:rPr>
              <a:t>Guide: Prof. Anuj Tawari</a:t>
            </a:r>
          </a:p>
        </p:txBody>
      </p:sp>
      <p:cxnSp>
        <p:nvCxnSpPr>
          <p:cNvPr id="9" name="Connector 8"/>
          <p:cNvCxnSpPr/>
          <p:nvPr/>
        </p:nvCxnSpPr>
        <p:spPr>
          <a:xfrm flipV="1">
            <a:off x="8229600" y="3108960"/>
            <a:ext cx="1005840" cy="1371600"/>
          </a:xfrm>
          <a:prstGeom prst="line">
            <a:avLst/>
          </a:prstGeom>
          <a:ln w="25400">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9600" y="4480560"/>
            <a:ext cx="1005840" cy="1188720"/>
          </a:xfrm>
          <a:prstGeom prst="line">
            <a:avLst/>
          </a:prstGeom>
          <a:ln w="25400">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235440" y="3108960"/>
            <a:ext cx="1280160" cy="1371600"/>
          </a:xfrm>
          <a:prstGeom prst="line">
            <a:avLst/>
          </a:prstGeom>
          <a:ln w="25400">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235440" y="4480560"/>
            <a:ext cx="1280160" cy="1188720"/>
          </a:xfrm>
          <a:prstGeom prst="line">
            <a:avLst/>
          </a:prstGeom>
          <a:ln w="25400">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515600" y="4480560"/>
            <a:ext cx="1005840" cy="0"/>
          </a:xfrm>
          <a:prstGeom prst="line">
            <a:avLst/>
          </a:prstGeom>
          <a:ln w="25400">
            <a:solidFill>
              <a:srgbClr val="2A3038"/>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946136" y="4197096"/>
            <a:ext cx="566928" cy="566928"/>
          </a:xfrm>
          <a:prstGeom prst="ellipse">
            <a:avLst/>
          </a:prstGeom>
          <a:solidFill>
            <a:srgbClr val="161A1F"/>
          </a:solidFill>
          <a:ln w="28575">
            <a:solidFill>
              <a:srgbClr val="E04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06840" y="2880360"/>
            <a:ext cx="457200" cy="457200"/>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06840" y="5440680"/>
            <a:ext cx="457200" cy="457200"/>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87000" y="4251960"/>
            <a:ext cx="457200" cy="457200"/>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237976" y="4197096"/>
            <a:ext cx="566928" cy="566928"/>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26679" y="4892040"/>
            <a:ext cx="1188720" cy="274320"/>
          </a:xfrm>
          <a:prstGeom prst="rect">
            <a:avLst/>
          </a:prstGeom>
          <a:noFill/>
        </p:spPr>
        <p:txBody>
          <a:bodyPr wrap="square" lIns="0" rIns="0" tIns="0" bIns="0" anchor="t">
            <a:spAutoFit/>
          </a:bodyPr>
          <a:lstStyle/>
          <a:p>
            <a:pPr algn="ctr">
              <a:lnSpc>
                <a:spcPct val="110000"/>
              </a:lnSpc>
            </a:pPr>
            <a:r>
              <a:rPr sz="1200" b="1" i="0">
                <a:solidFill>
                  <a:srgbClr val="E0464C"/>
                </a:solidFill>
                <a:latin typeface="Segoe UI"/>
              </a:rPr>
              <a:t>SOS</a:t>
            </a:r>
          </a:p>
        </p:txBody>
      </p:sp>
      <p:sp>
        <p:nvSpPr>
          <p:cNvPr id="20" name="TextBox 19"/>
          <p:cNvSpPr txBox="1"/>
          <p:nvPr/>
        </p:nvSpPr>
        <p:spPr>
          <a:xfrm>
            <a:off x="10972800" y="4846320"/>
            <a:ext cx="1097280" cy="274320"/>
          </a:xfrm>
          <a:prstGeom prst="rect">
            <a:avLst/>
          </a:prstGeom>
          <a:noFill/>
        </p:spPr>
        <p:txBody>
          <a:bodyPr wrap="square" lIns="0" rIns="0" tIns="0" bIns="0" anchor="t">
            <a:spAutoFit/>
          </a:bodyPr>
          <a:lstStyle/>
          <a:p>
            <a:pPr algn="ctr">
              <a:lnSpc>
                <a:spcPct val="110000"/>
              </a:lnSpc>
            </a:pPr>
            <a:r>
              <a:rPr sz="1200" b="0" i="0">
                <a:solidFill>
                  <a:srgbClr val="A6AFB9"/>
                </a:solidFill>
                <a:latin typeface="Segoe UI"/>
              </a:rPr>
              <a:t>Rescue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THE PROBLEM AND THE IDEA</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When towers fail, phones can still reach each other</a:t>
            </a:r>
          </a:p>
        </p:txBody>
      </p:sp>
      <p:cxnSp>
        <p:nvCxnSpPr>
          <p:cNvPr id="4" name="Connector 3"/>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6" name="TextBox 5"/>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2 / 14</a:t>
            </a:r>
          </a:p>
        </p:txBody>
      </p:sp>
      <p:sp>
        <p:nvSpPr>
          <p:cNvPr id="7" name="TextBox 6"/>
          <p:cNvSpPr txBox="1"/>
          <p:nvPr/>
        </p:nvSpPr>
        <p:spPr>
          <a:xfrm>
            <a:off x="548640" y="1600200"/>
            <a:ext cx="5120640" cy="320040"/>
          </a:xfrm>
          <a:prstGeom prst="rect">
            <a:avLst/>
          </a:prstGeom>
          <a:noFill/>
        </p:spPr>
        <p:txBody>
          <a:bodyPr wrap="square" lIns="0" rIns="0" tIns="0" bIns="0" anchor="t">
            <a:spAutoFit/>
          </a:bodyPr>
          <a:lstStyle/>
          <a:p>
            <a:pPr algn="l">
              <a:lnSpc>
                <a:spcPct val="110000"/>
              </a:lnSpc>
            </a:pPr>
            <a:r>
              <a:rPr sz="1200" b="1" i="0">
                <a:solidFill>
                  <a:srgbClr val="4D5864"/>
                </a:solidFill>
                <a:latin typeface="Segoe UI"/>
              </a:rPr>
              <a:t>THE PROBLEM</a:t>
            </a:r>
          </a:p>
        </p:txBody>
      </p:sp>
      <p:sp>
        <p:nvSpPr>
          <p:cNvPr id="8" name="TextBox 7"/>
          <p:cNvSpPr txBox="1"/>
          <p:nvPr/>
        </p:nvSpPr>
        <p:spPr>
          <a:xfrm>
            <a:off x="548640" y="2011680"/>
            <a:ext cx="5120640" cy="2103120"/>
          </a:xfrm>
          <a:prstGeom prst="rect">
            <a:avLst/>
          </a:prstGeom>
          <a:noFill/>
        </p:spPr>
        <p:txBody>
          <a:bodyPr wrap="square" lIns="0" rIns="0" tIns="0" bIns="0">
            <a:spAutoFit/>
          </a:bodyPr>
          <a:lstStyle/>
          <a:p>
            <a:pPr marL="201168" indent="-201168">
              <a:lnSpc>
                <a:spcPct val="108000"/>
              </a:lnSpc>
              <a:spcAft>
                <a:spcPts val="1200"/>
              </a:spcAft>
              <a:buChar char="•"/>
            </a:pPr>
            <a:r>
              <a:rPr sz="1700" b="0">
                <a:solidFill>
                  <a:srgbClr val="14181D"/>
                </a:solidFill>
                <a:latin typeface="Segoe UI"/>
              </a:rPr>
              <a:t>After an earthquake, fire or building collapse, cell towers fail or are jammed.</a:t>
            </a:r>
          </a:p>
          <a:p>
            <a:pPr marL="201168" indent="-201168">
              <a:lnSpc>
                <a:spcPct val="108000"/>
              </a:lnSpc>
              <a:spcAft>
                <a:spcPts val="1200"/>
              </a:spcAft>
              <a:buChar char="•"/>
            </a:pPr>
            <a:r>
              <a:rPr sz="1700" b="0">
                <a:solidFill>
                  <a:srgbClr val="14181D"/>
                </a:solidFill>
                <a:latin typeface="Segoe UI"/>
              </a:rPr>
              <a:t>Messaging apps need a server far away, so they stop even for people in the same room.</a:t>
            </a:r>
          </a:p>
          <a:p>
            <a:pPr marL="201168" indent="-201168">
              <a:lnSpc>
                <a:spcPct val="108000"/>
              </a:lnSpc>
              <a:spcAft>
                <a:spcPts val="1200"/>
              </a:spcAft>
              <a:buChar char="•"/>
            </a:pPr>
            <a:r>
              <a:rPr sz="1700" b="0">
                <a:solidFill>
                  <a:srgbClr val="14181D"/>
                </a:solidFill>
                <a:latin typeface="Segoe UI"/>
              </a:rPr>
              <a:t>Trapped people cannot tell anyone where they are; rescuers search room by room.</a:t>
            </a:r>
          </a:p>
        </p:txBody>
      </p:sp>
      <p:sp>
        <p:nvSpPr>
          <p:cNvPr id="9" name="TextBox 8"/>
          <p:cNvSpPr txBox="1"/>
          <p:nvPr/>
        </p:nvSpPr>
        <p:spPr>
          <a:xfrm>
            <a:off x="548640" y="4343400"/>
            <a:ext cx="5120640" cy="320040"/>
          </a:xfrm>
          <a:prstGeom prst="rect">
            <a:avLst/>
          </a:prstGeom>
          <a:noFill/>
        </p:spPr>
        <p:txBody>
          <a:bodyPr wrap="square" lIns="0" rIns="0" tIns="0" bIns="0" anchor="t">
            <a:spAutoFit/>
          </a:bodyPr>
          <a:lstStyle/>
          <a:p>
            <a:pPr algn="l">
              <a:lnSpc>
                <a:spcPct val="110000"/>
              </a:lnSpc>
            </a:pPr>
            <a:r>
              <a:rPr sz="1200" b="1" i="0">
                <a:solidFill>
                  <a:srgbClr val="4D5864"/>
                </a:solidFill>
                <a:latin typeface="Segoe UI"/>
              </a:rPr>
              <a:t>THE IDEA</a:t>
            </a:r>
          </a:p>
        </p:txBody>
      </p:sp>
      <p:sp>
        <p:nvSpPr>
          <p:cNvPr id="10" name="TextBox 9"/>
          <p:cNvSpPr txBox="1"/>
          <p:nvPr/>
        </p:nvSpPr>
        <p:spPr>
          <a:xfrm>
            <a:off x="548640" y="4709160"/>
            <a:ext cx="5120640" cy="1463040"/>
          </a:xfrm>
          <a:prstGeom prst="rect">
            <a:avLst/>
          </a:prstGeom>
          <a:noFill/>
        </p:spPr>
        <p:txBody>
          <a:bodyPr wrap="square" lIns="0" rIns="0" tIns="0" bIns="0" anchor="t">
            <a:spAutoFit/>
          </a:bodyPr>
          <a:lstStyle/>
          <a:p>
            <a:pPr algn="l">
              <a:lnSpc>
                <a:spcPct val="120000"/>
              </a:lnSpc>
            </a:pPr>
            <a:r>
              <a:rPr sz="1600" b="0" i="0">
                <a:solidFill>
                  <a:srgbClr val="14181D"/>
                </a:solidFill>
                <a:latin typeface="Segoe UI"/>
              </a:rPr>
              <a:t>Phones still have battery and can still reach devices near them. Make every device a relay, so an SOS hops device to device until it reaches a rescue team or a gateway. No tower, no internet, no central server.</a:t>
            </a:r>
          </a:p>
        </p:txBody>
      </p:sp>
      <p:sp>
        <p:nvSpPr>
          <p:cNvPr id="11" name="Rounded Rectangle 10"/>
          <p:cNvSpPr/>
          <p:nvPr/>
        </p:nvSpPr>
        <p:spPr>
          <a:xfrm>
            <a:off x="6126480" y="1600200"/>
            <a:ext cx="5513832" cy="4572000"/>
          </a:xfrm>
          <a:prstGeom prst="roundRect">
            <a:avLst>
              <a:gd name="adj" fmla="val 6000"/>
            </a:avLst>
          </a:prstGeom>
          <a:solidFill>
            <a:srgbClr val="0E11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V="1">
            <a:off x="6766560" y="2743200"/>
            <a:ext cx="1371600" cy="1463040"/>
          </a:xfrm>
          <a:prstGeom prst="line">
            <a:avLst/>
          </a:prstGeom>
          <a:ln w="28575">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766560" y="4206240"/>
            <a:ext cx="1371600" cy="1371600"/>
          </a:xfrm>
          <a:prstGeom prst="line">
            <a:avLst/>
          </a:prstGeom>
          <a:ln w="28575">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138160" y="2743200"/>
            <a:ext cx="1645920" cy="1463040"/>
          </a:xfrm>
          <a:prstGeom prst="line">
            <a:avLst/>
          </a:prstGeom>
          <a:ln w="28575">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138160" y="4206240"/>
            <a:ext cx="1645920" cy="1371600"/>
          </a:xfrm>
          <a:prstGeom prst="line">
            <a:avLst/>
          </a:prstGeom>
          <a:ln w="28575">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84080" y="4206240"/>
            <a:ext cx="1371600" cy="0"/>
          </a:xfrm>
          <a:prstGeom prst="line">
            <a:avLst/>
          </a:prstGeom>
          <a:ln w="28575">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766560" y="2743200"/>
            <a:ext cx="1371600" cy="1463040"/>
          </a:xfrm>
          <a:prstGeom prst="line">
            <a:avLst/>
          </a:prstGeom>
          <a:ln w="38100">
            <a:solidFill>
              <a:srgbClr val="5B9CF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138160" y="2743200"/>
            <a:ext cx="1645920" cy="1463040"/>
          </a:xfrm>
          <a:prstGeom prst="line">
            <a:avLst/>
          </a:prstGeom>
          <a:ln w="38100">
            <a:solidFill>
              <a:srgbClr val="5B9CF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84080" y="4206240"/>
            <a:ext cx="1371600" cy="0"/>
          </a:xfrm>
          <a:prstGeom prst="line">
            <a:avLst/>
          </a:prstGeom>
          <a:ln w="38100">
            <a:solidFill>
              <a:srgbClr val="5B9CF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6515100" y="3954779"/>
            <a:ext cx="502920" cy="502920"/>
          </a:xfrm>
          <a:prstGeom prst="ellipse">
            <a:avLst/>
          </a:prstGeom>
          <a:solidFill>
            <a:srgbClr val="161A1F"/>
          </a:solidFill>
          <a:ln w="28575">
            <a:solidFill>
              <a:srgbClr val="E04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4572000"/>
            <a:ext cx="1280160" cy="457200"/>
          </a:xfrm>
          <a:prstGeom prst="rect">
            <a:avLst/>
          </a:prstGeom>
          <a:noFill/>
        </p:spPr>
        <p:txBody>
          <a:bodyPr wrap="square" lIns="0" rIns="0" tIns="0" bIns="0" anchor="t">
            <a:spAutoFit/>
          </a:bodyPr>
          <a:lstStyle/>
          <a:p>
            <a:pPr algn="ctr">
              <a:lnSpc>
                <a:spcPct val="100000"/>
              </a:lnSpc>
            </a:pPr>
            <a:r>
              <a:rPr sz="1150" b="0" i="0">
                <a:solidFill>
                  <a:srgbClr val="A6AFB9"/>
                </a:solidFill>
                <a:latin typeface="Segoe UI"/>
              </a:rPr>
              <a:t>Trapped
person</a:t>
            </a:r>
          </a:p>
        </p:txBody>
      </p:sp>
      <p:sp>
        <p:nvSpPr>
          <p:cNvPr id="22" name="Oval 21"/>
          <p:cNvSpPr/>
          <p:nvPr/>
        </p:nvSpPr>
        <p:spPr>
          <a:xfrm>
            <a:off x="7886700" y="2491740"/>
            <a:ext cx="502920" cy="502920"/>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0" y="3108960"/>
            <a:ext cx="1280160" cy="457200"/>
          </a:xfrm>
          <a:prstGeom prst="rect">
            <a:avLst/>
          </a:prstGeom>
          <a:noFill/>
        </p:spPr>
        <p:txBody>
          <a:bodyPr wrap="square" lIns="0" rIns="0" tIns="0" bIns="0" anchor="t">
            <a:spAutoFit/>
          </a:bodyPr>
          <a:lstStyle/>
          <a:p>
            <a:pPr algn="ctr">
              <a:lnSpc>
                <a:spcPct val="100000"/>
              </a:lnSpc>
            </a:pPr>
            <a:r>
              <a:rPr sz="1150" b="0" i="0">
                <a:solidFill>
                  <a:srgbClr val="A6AFB9"/>
                </a:solidFill>
                <a:latin typeface="Segoe UI"/>
              </a:rPr>
              <a:t>Phone 2</a:t>
            </a:r>
          </a:p>
        </p:txBody>
      </p:sp>
      <p:sp>
        <p:nvSpPr>
          <p:cNvPr id="24" name="Oval 23"/>
          <p:cNvSpPr/>
          <p:nvPr/>
        </p:nvSpPr>
        <p:spPr>
          <a:xfrm>
            <a:off x="7886700" y="5326379"/>
            <a:ext cx="502920" cy="502920"/>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0" y="5943600"/>
            <a:ext cx="1280160" cy="457200"/>
          </a:xfrm>
          <a:prstGeom prst="rect">
            <a:avLst/>
          </a:prstGeom>
          <a:noFill/>
        </p:spPr>
        <p:txBody>
          <a:bodyPr wrap="square" lIns="0" rIns="0" tIns="0" bIns="0" anchor="t">
            <a:spAutoFit/>
          </a:bodyPr>
          <a:lstStyle/>
          <a:p>
            <a:pPr algn="ctr">
              <a:lnSpc>
                <a:spcPct val="100000"/>
              </a:lnSpc>
            </a:pPr>
            <a:r>
              <a:rPr sz="1150" b="0" i="0">
                <a:solidFill>
                  <a:srgbClr val="A6AFB9"/>
                </a:solidFill>
                <a:latin typeface="Segoe UI"/>
              </a:rPr>
              <a:t>Phone 3</a:t>
            </a:r>
          </a:p>
        </p:txBody>
      </p:sp>
      <p:sp>
        <p:nvSpPr>
          <p:cNvPr id="26" name="Oval 25"/>
          <p:cNvSpPr/>
          <p:nvPr/>
        </p:nvSpPr>
        <p:spPr>
          <a:xfrm>
            <a:off x="9532619" y="3954779"/>
            <a:ext cx="502920" cy="502920"/>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4572000"/>
            <a:ext cx="1280160" cy="457200"/>
          </a:xfrm>
          <a:prstGeom prst="rect">
            <a:avLst/>
          </a:prstGeom>
          <a:noFill/>
        </p:spPr>
        <p:txBody>
          <a:bodyPr wrap="square" lIns="0" rIns="0" tIns="0" bIns="0" anchor="t">
            <a:spAutoFit/>
          </a:bodyPr>
          <a:lstStyle/>
          <a:p>
            <a:pPr algn="ctr">
              <a:lnSpc>
                <a:spcPct val="100000"/>
              </a:lnSpc>
            </a:pPr>
            <a:r>
              <a:rPr sz="1150" b="0" i="0">
                <a:solidFill>
                  <a:srgbClr val="A6AFB9"/>
                </a:solidFill>
                <a:latin typeface="Segoe UI"/>
              </a:rPr>
              <a:t>Gateway</a:t>
            </a:r>
          </a:p>
        </p:txBody>
      </p:sp>
      <p:sp>
        <p:nvSpPr>
          <p:cNvPr id="28" name="Oval 27"/>
          <p:cNvSpPr/>
          <p:nvPr/>
        </p:nvSpPr>
        <p:spPr>
          <a:xfrm>
            <a:off x="10904219" y="3954779"/>
            <a:ext cx="502920" cy="502920"/>
          </a:xfrm>
          <a:prstGeom prst="ellipse">
            <a:avLst/>
          </a:prstGeom>
          <a:solidFill>
            <a:srgbClr val="161A1F"/>
          </a:solidFill>
          <a:ln w="2857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0" y="4572000"/>
            <a:ext cx="1280160" cy="457200"/>
          </a:xfrm>
          <a:prstGeom prst="rect">
            <a:avLst/>
          </a:prstGeom>
          <a:noFill/>
        </p:spPr>
        <p:txBody>
          <a:bodyPr wrap="square" lIns="0" rIns="0" tIns="0" bIns="0" anchor="t">
            <a:spAutoFit/>
          </a:bodyPr>
          <a:lstStyle/>
          <a:p>
            <a:pPr algn="ctr">
              <a:lnSpc>
                <a:spcPct val="100000"/>
              </a:lnSpc>
            </a:pPr>
            <a:r>
              <a:rPr sz="1150" b="0" i="0">
                <a:solidFill>
                  <a:srgbClr val="A6AFB9"/>
                </a:solidFill>
                <a:latin typeface="Segoe UI"/>
              </a:rPr>
              <a:t>Rescue
team</a:t>
            </a:r>
          </a:p>
        </p:txBody>
      </p:sp>
      <p:sp>
        <p:nvSpPr>
          <p:cNvPr id="30" name="TextBox 29"/>
          <p:cNvSpPr txBox="1"/>
          <p:nvPr/>
        </p:nvSpPr>
        <p:spPr>
          <a:xfrm>
            <a:off x="6355080" y="1783080"/>
            <a:ext cx="5029200" cy="320040"/>
          </a:xfrm>
          <a:prstGeom prst="rect">
            <a:avLst/>
          </a:prstGeom>
          <a:noFill/>
        </p:spPr>
        <p:txBody>
          <a:bodyPr wrap="square" lIns="0" rIns="0" tIns="0" bIns="0" anchor="t">
            <a:spAutoFit/>
          </a:bodyPr>
          <a:lstStyle/>
          <a:p>
            <a:pPr algn="l">
              <a:lnSpc>
                <a:spcPct val="110000"/>
              </a:lnSpc>
            </a:pPr>
            <a:r>
              <a:rPr sz="1400" b="1" i="0">
                <a:solidFill>
                  <a:srgbClr val="EEF1F4"/>
                </a:solidFill>
                <a:latin typeface="Segoe UI"/>
              </a:rPr>
              <a:t>An SOS crosses the mesh</a:t>
            </a:r>
          </a:p>
        </p:txBody>
      </p:sp>
      <p:sp>
        <p:nvSpPr>
          <p:cNvPr id="31" name="TextBox 30"/>
          <p:cNvSpPr txBox="1"/>
          <p:nvPr/>
        </p:nvSpPr>
        <p:spPr>
          <a:xfrm>
            <a:off x="6355080" y="2103120"/>
            <a:ext cx="5029200" cy="320040"/>
          </a:xfrm>
          <a:prstGeom prst="rect">
            <a:avLst/>
          </a:prstGeom>
          <a:noFill/>
        </p:spPr>
        <p:txBody>
          <a:bodyPr wrap="square" lIns="0" rIns="0" tIns="0" bIns="0" anchor="t">
            <a:spAutoFit/>
          </a:bodyPr>
          <a:lstStyle/>
          <a:p>
            <a:pPr algn="l">
              <a:lnSpc>
                <a:spcPct val="110000"/>
              </a:lnSpc>
            </a:pPr>
            <a:r>
              <a:rPr sz="1200" b="0" i="0">
                <a:solidFill>
                  <a:srgbClr val="A6AFB9"/>
                </a:solidFill>
                <a:latin typeface="Segoe UI"/>
              </a:rPr>
              <a:t>The route is chosen by the network, not typed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WHAT WE BUILT</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An engine, an API and one device app</a:t>
            </a:r>
          </a:p>
        </p:txBody>
      </p:sp>
      <p:cxnSp>
        <p:nvCxnSpPr>
          <p:cNvPr id="4" name="Connector 3"/>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6" name="TextBox 5"/>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3 / 14</a:t>
            </a:r>
          </a:p>
        </p:txBody>
      </p:sp>
      <p:pic>
        <p:nvPicPr>
          <p:cNvPr id="7" name="Picture 6" descr="arch.png"/>
          <p:cNvPicPr>
            <a:picLocks noChangeAspect="1"/>
          </p:cNvPicPr>
          <p:nvPr/>
        </p:nvPicPr>
        <p:blipFill>
          <a:blip r:embed="rId2"/>
          <a:stretch>
            <a:fillRect/>
          </a:stretch>
        </p:blipFill>
        <p:spPr>
          <a:xfrm>
            <a:off x="548640" y="1607820"/>
            <a:ext cx="4846320" cy="4465320"/>
          </a:xfrm>
          <a:prstGeom prst="rect">
            <a:avLst/>
          </a:prstGeom>
        </p:spPr>
      </p:pic>
      <p:sp>
        <p:nvSpPr>
          <p:cNvPr id="8" name="Rounded Rectangle 7"/>
          <p:cNvSpPr/>
          <p:nvPr/>
        </p:nvSpPr>
        <p:spPr>
          <a:xfrm>
            <a:off x="5669280" y="1508760"/>
            <a:ext cx="5971032" cy="1261872"/>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97880" y="1673351"/>
            <a:ext cx="5513832"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Engine  (mesh/core)</a:t>
            </a:r>
          </a:p>
        </p:txBody>
      </p:sp>
      <p:sp>
        <p:nvSpPr>
          <p:cNvPr id="10" name="TextBox 9"/>
          <p:cNvSpPr txBox="1"/>
          <p:nvPr/>
        </p:nvSpPr>
        <p:spPr>
          <a:xfrm>
            <a:off x="5897880" y="2075688"/>
            <a:ext cx="5513832" cy="576071"/>
          </a:xfrm>
          <a:prstGeom prst="rect">
            <a:avLst/>
          </a:prstGeom>
          <a:noFill/>
        </p:spPr>
        <p:txBody>
          <a:bodyPr wrap="square" lIns="0" rIns="0" tIns="0" bIns="0" anchor="t">
            <a:spAutoFit/>
          </a:bodyPr>
          <a:lstStyle/>
          <a:p>
            <a:pPr algn="l">
              <a:lnSpc>
                <a:spcPct val="115000"/>
              </a:lnSpc>
            </a:pPr>
            <a:r>
              <a:rPr sz="1350" b="0" i="0">
                <a:solidFill>
                  <a:srgbClr val="4D5864"/>
                </a:solidFill>
                <a:latin typeface="Segoe UI"/>
              </a:rPr>
              <a:t>11 modules, 2,849 lines: discovery, link-state routing, reliability, security and a SQLite log per device.</a:t>
            </a:r>
          </a:p>
        </p:txBody>
      </p:sp>
      <p:sp>
        <p:nvSpPr>
          <p:cNvPr id="11" name="Rounded Rectangle 10"/>
          <p:cNvSpPr/>
          <p:nvPr/>
        </p:nvSpPr>
        <p:spPr>
          <a:xfrm>
            <a:off x="5669280" y="2907792"/>
            <a:ext cx="5971032" cy="1261872"/>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80" y="3072384"/>
            <a:ext cx="5513832"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API and simulation lab</a:t>
            </a:r>
          </a:p>
        </p:txBody>
      </p:sp>
      <p:sp>
        <p:nvSpPr>
          <p:cNvPr id="13" name="TextBox 12"/>
          <p:cNvSpPr txBox="1"/>
          <p:nvPr/>
        </p:nvSpPr>
        <p:spPr>
          <a:xfrm>
            <a:off x="5897880" y="3474720"/>
            <a:ext cx="5513832" cy="576071"/>
          </a:xfrm>
          <a:prstGeom prst="rect">
            <a:avLst/>
          </a:prstGeom>
          <a:noFill/>
        </p:spPr>
        <p:txBody>
          <a:bodyPr wrap="square" lIns="0" rIns="0" tIns="0" bIns="0" anchor="t">
            <a:spAutoFit/>
          </a:bodyPr>
          <a:lstStyle/>
          <a:p>
            <a:pPr algn="l">
              <a:lnSpc>
                <a:spcPct val="115000"/>
              </a:lnSpc>
            </a:pPr>
            <a:r>
              <a:rPr sz="1350" b="0" i="0">
                <a:solidFill>
                  <a:srgbClr val="4D5864"/>
                </a:solidFill>
                <a:latin typeface="Segoe UI"/>
              </a:rPr>
              <a:t>FastAPI and WebSocket server, a React lab and a simulator that runs 7 scenarios up to 65 nodes. It produced the experiment results.</a:t>
            </a:r>
          </a:p>
        </p:txBody>
      </p:sp>
      <p:sp>
        <p:nvSpPr>
          <p:cNvPr id="14" name="Rounded Rectangle 13"/>
          <p:cNvSpPr/>
          <p:nvPr/>
        </p:nvSpPr>
        <p:spPr>
          <a:xfrm>
            <a:off x="5669280" y="4306824"/>
            <a:ext cx="5971032" cy="1261872"/>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7880" y="4471416"/>
            <a:ext cx="5513832"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The device app  (story/)</a:t>
            </a:r>
          </a:p>
        </p:txBody>
      </p:sp>
      <p:sp>
        <p:nvSpPr>
          <p:cNvPr id="16" name="TextBox 15"/>
          <p:cNvSpPr txBox="1"/>
          <p:nvPr/>
        </p:nvSpPr>
        <p:spPr>
          <a:xfrm>
            <a:off x="5897880" y="4873752"/>
            <a:ext cx="5513832" cy="576071"/>
          </a:xfrm>
          <a:prstGeom prst="rect">
            <a:avLst/>
          </a:prstGeom>
          <a:noFill/>
        </p:spPr>
        <p:txBody>
          <a:bodyPr wrap="square" lIns="0" rIns="0" tIns="0" bIns="0" anchor="t">
            <a:spAutoFit/>
          </a:bodyPr>
          <a:lstStyle/>
          <a:p>
            <a:pPr algn="l">
              <a:lnSpc>
                <a:spcPct val="115000"/>
              </a:lnSpc>
            </a:pPr>
            <a:r>
              <a:rPr sz="1350" b="0" i="0">
                <a:solidFill>
                  <a:srgbClr val="4D5864"/>
                </a:solidFill>
                <a:latin typeface="Segoe UI"/>
              </a:rPr>
              <a:t>One web page per device. It becomes the survivor phone, the gateway view or the rescue console, depending on the device's role.</a:t>
            </a:r>
          </a:p>
        </p:txBody>
      </p:sp>
      <p:sp>
        <p:nvSpPr>
          <p:cNvPr id="17" name="Rounded Rectangle 16"/>
          <p:cNvSpPr/>
          <p:nvPr/>
        </p:nvSpPr>
        <p:spPr>
          <a:xfrm>
            <a:off x="5669280" y="5715000"/>
            <a:ext cx="5971032" cy="54864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0" y="5715000"/>
            <a:ext cx="5623560" cy="548640"/>
          </a:xfrm>
          <a:prstGeom prst="rect">
            <a:avLst/>
          </a:prstGeom>
          <a:noFill/>
        </p:spPr>
        <p:txBody>
          <a:bodyPr wrap="square" lIns="0" rIns="0" tIns="0" bIns="0" anchor="ctr">
            <a:spAutoFit/>
          </a:bodyPr>
          <a:lstStyle/>
          <a:p>
            <a:pPr algn="l">
              <a:lnSpc>
                <a:spcPct val="110000"/>
              </a:lnSpc>
            </a:pPr>
            <a:r>
              <a:rPr sz="1250" b="1" i="0">
                <a:solidFill>
                  <a:srgbClr val="14181D"/>
                </a:solidFill>
                <a:latin typeface="Segoe UI"/>
              </a:rPr>
              <a:t>The radio is emulated. </a:t>
            </a:r>
            <a:r>
              <a:rPr sz="1250" b="0" i="0">
                <a:solidFill>
                  <a:srgbClr val="14181D"/>
                </a:solidFill>
                <a:latin typeface="Segoe UI"/>
              </a:rPr>
              <a:t>Devices exchange real packets over TCP, but only with the neighbours a config file allows.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III  ·  P1 MODULE-WISE CODING</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Eleven modules, built by three people</a:t>
            </a:r>
          </a:p>
        </p:txBody>
      </p:sp>
      <p:sp>
        <p:nvSpPr>
          <p:cNvPr id="4" name="TextBox 3"/>
          <p:cNvSpPr txBox="1"/>
          <p:nvPr/>
        </p:nvSpPr>
        <p:spPr>
          <a:xfrm>
            <a:off x="548640" y="1261872"/>
            <a:ext cx="11064240" cy="365760"/>
          </a:xfrm>
          <a:prstGeom prst="rect">
            <a:avLst/>
          </a:prstGeom>
          <a:noFill/>
        </p:spPr>
        <p:txBody>
          <a:bodyPr wrap="square" lIns="0" rIns="0" tIns="0" bIns="0" anchor="t">
            <a:spAutoFit/>
          </a:bodyPr>
          <a:lstStyle/>
          <a:p>
            <a:pPr algn="l">
              <a:lnSpc>
                <a:spcPct val="110000"/>
              </a:lnSpc>
            </a:pPr>
            <a:r>
              <a:rPr sz="1500" b="0" i="0">
                <a:solidFill>
                  <a:srgbClr val="4D5864"/>
                </a:solidFill>
                <a:latin typeface="Segoe UI"/>
              </a:rPr>
              <a:t>Who built what, as recorded in the contribution log.</a:t>
            </a:r>
          </a:p>
        </p:txBody>
      </p:sp>
      <p:cxnSp>
        <p:nvCxnSpPr>
          <p:cNvPr id="5" name="Connector 4"/>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7" name="TextBox 6"/>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4 / 14</a:t>
            </a:r>
          </a:p>
        </p:txBody>
      </p:sp>
      <p:graphicFrame>
        <p:nvGraphicFramePr>
          <p:cNvPr id="8" name="Table 7"/>
          <p:cNvGraphicFramePr>
            <a:graphicFrameLocks noGrp="1"/>
          </p:cNvGraphicFramePr>
          <p:nvPr/>
        </p:nvGraphicFramePr>
        <p:xfrm>
          <a:off x="548640" y="1783080"/>
          <a:ext cx="11091671" cy="4114800"/>
        </p:xfrm>
        <a:graphic>
          <a:graphicData uri="http://schemas.openxmlformats.org/drawingml/2006/table">
            <a:tbl>
              <a:tblPr firstRow="0" bandRow="0">
                <a:tableStyleId>{5C22544A-7EE6-4342-B048-85BDC9FD1C3A}</a:tableStyleId>
              </a:tblPr>
              <a:tblGrid>
                <a:gridCol w="806667"/>
                <a:gridCol w="8671670"/>
                <a:gridCol w="1613334"/>
              </a:tblGrid>
              <a:tr h="457200">
                <a:tc>
                  <a:txBody>
                    <a:bodyPr wrap="square"/>
                    <a:lstStyle/>
                    <a:p>
                      <a:r>
                        <a:rPr sz="1200" b="1">
                          <a:solidFill>
                            <a:srgbClr val="EEF1F4"/>
                          </a:solidFill>
                          <a:latin typeface="Segoe UI"/>
                        </a:rPr>
                        <a:t>PHASE</a:t>
                      </a:r>
                    </a:p>
                  </a:txBody>
                  <a:tcPr marL="91440" marR="91440" marT="36576" marB="36576" anchor="ctr">
                    <a:solidFill>
                      <a:srgbClr val="161A1F"/>
                    </a:solidFill>
                  </a:tcPr>
                </a:tc>
                <a:tc>
                  <a:txBody>
                    <a:bodyPr wrap="square"/>
                    <a:lstStyle/>
                    <a:p>
                      <a:r>
                        <a:rPr sz="1200" b="1">
                          <a:solidFill>
                            <a:srgbClr val="EEF1F4"/>
                          </a:solidFill>
                          <a:latin typeface="Segoe UI"/>
                        </a:rPr>
                        <a:t>WHAT WAS BUILT</a:t>
                      </a:r>
                    </a:p>
                  </a:txBody>
                  <a:tcPr marL="91440" marR="91440" marT="36576" marB="36576" anchor="ctr">
                    <a:solidFill>
                      <a:srgbClr val="161A1F"/>
                    </a:solidFill>
                  </a:tcPr>
                </a:tc>
                <a:tc>
                  <a:txBody>
                    <a:bodyPr wrap="square"/>
                    <a:lstStyle/>
                    <a:p>
                      <a:r>
                        <a:rPr sz="1200" b="1">
                          <a:solidFill>
                            <a:srgbClr val="EEF1F4"/>
                          </a:solidFill>
                          <a:latin typeface="Segoe UI"/>
                        </a:rPr>
                        <a:t>BUILT BY</a:t>
                      </a:r>
                    </a:p>
                  </a:txBody>
                  <a:tcPr marL="91440" marR="91440" marT="36576" marB="36576" anchor="ctr">
                    <a:solidFill>
                      <a:srgbClr val="161A1F"/>
                    </a:solidFill>
                  </a:tcPr>
                </a:tc>
              </a:tr>
              <a:tr h="457200">
                <a:tc>
                  <a:txBody>
                    <a:bodyPr wrap="square"/>
                    <a:lstStyle/>
                    <a:p>
                      <a:r>
                        <a:rPr sz="1350" b="1">
                          <a:solidFill>
                            <a:srgbClr val="14181D"/>
                          </a:solidFill>
                          <a:latin typeface="Segoe UI"/>
                        </a:rPr>
                        <a:t>1</a:t>
                      </a:r>
                    </a:p>
                  </a:txBody>
                  <a:tcPr marL="91440" marR="91440" marT="36576" marB="36576" anchor="ctr">
                    <a:solidFill>
                      <a:srgbClr val="F3F5F8"/>
                    </a:solidFill>
                  </a:tcPr>
                </a:tc>
                <a:tc>
                  <a:txBody>
                    <a:bodyPr wrap="square"/>
                    <a:lstStyle/>
                    <a:p>
                      <a:r>
                        <a:rPr sz="1350" b="0">
                          <a:solidFill>
                            <a:srgbClr val="14181D"/>
                          </a:solidFill>
                          <a:latin typeface="Segoe UI"/>
                        </a:rPr>
                        <a:t>Packet format (52-byte header), transport interface, UDP transport</a:t>
                      </a:r>
                    </a:p>
                  </a:txBody>
                  <a:tcPr marL="91440" marR="91440" marT="36576" marB="36576" anchor="ctr">
                    <a:solidFill>
                      <a:srgbClr val="F3F5F8"/>
                    </a:solidFill>
                  </a:tcPr>
                </a:tc>
                <a:tc>
                  <a:txBody>
                    <a:bodyPr wrap="square"/>
                    <a:lstStyle/>
                    <a:p>
                      <a:r>
                        <a:rPr sz="1350" b="0">
                          <a:solidFill>
                            <a:srgbClr val="14181D"/>
                          </a:solidFill>
                          <a:latin typeface="Segoe UI"/>
                        </a:rPr>
                        <a:t>Tanvi</a:t>
                      </a:r>
                    </a:p>
                  </a:txBody>
                  <a:tcPr marL="91440" marR="91440" marT="36576" marB="36576" anchor="ctr">
                    <a:solidFill>
                      <a:srgbClr val="F3F5F8"/>
                    </a:solidFill>
                  </a:tcPr>
                </a:tc>
              </a:tr>
              <a:tr h="457200">
                <a:tc>
                  <a:txBody>
                    <a:bodyPr wrap="square"/>
                    <a:lstStyle/>
                    <a:p>
                      <a:r>
                        <a:rPr sz="1350" b="1">
                          <a:solidFill>
                            <a:srgbClr val="14181D"/>
                          </a:solidFill>
                          <a:latin typeface="Segoe UI"/>
                        </a:rPr>
                        <a:t>2</a:t>
                      </a:r>
                    </a:p>
                  </a:txBody>
                  <a:tcPr marL="91440" marR="91440" marT="36576" marB="36576" anchor="ctr">
                    <a:solidFill>
                      <a:srgbClr val="FFFFFF"/>
                    </a:solidFill>
                  </a:tcPr>
                </a:tc>
                <a:tc>
                  <a:txBody>
                    <a:bodyPr wrap="square"/>
                    <a:lstStyle/>
                    <a:p>
                      <a:r>
                        <a:rPr sz="1350" b="0">
                          <a:solidFill>
                            <a:srgbClr val="14181D"/>
                          </a:solidFill>
                          <a:latin typeface="Segoe UI"/>
                        </a:rPr>
                        <a:t>Discovery (HELLO, neighbour table), relay, simulated transport</a:t>
                      </a:r>
                    </a:p>
                  </a:txBody>
                  <a:tcPr marL="91440" marR="91440" marT="36576" marB="36576" anchor="ctr">
                    <a:solidFill>
                      <a:srgbClr val="FFFFFF"/>
                    </a:solidFill>
                  </a:tcPr>
                </a:tc>
                <a:tc>
                  <a:txBody>
                    <a:bodyPr wrap="square"/>
                    <a:lstStyle/>
                    <a:p>
                      <a:r>
                        <a:rPr sz="1350" b="0">
                          <a:solidFill>
                            <a:srgbClr val="14181D"/>
                          </a:solidFill>
                          <a:latin typeface="Segoe UI"/>
                        </a:rPr>
                        <a:t>Miti</a:t>
                      </a:r>
                    </a:p>
                  </a:txBody>
                  <a:tcPr marL="91440" marR="91440" marT="36576" marB="36576" anchor="ctr">
                    <a:solidFill>
                      <a:srgbClr val="FFFFFF"/>
                    </a:solidFill>
                  </a:tcPr>
                </a:tc>
              </a:tr>
              <a:tr h="457200">
                <a:tc>
                  <a:txBody>
                    <a:bodyPr wrap="square"/>
                    <a:lstStyle/>
                    <a:p>
                      <a:r>
                        <a:rPr sz="1350" b="1">
                          <a:solidFill>
                            <a:srgbClr val="14181D"/>
                          </a:solidFill>
                          <a:latin typeface="Segoe UI"/>
                        </a:rPr>
                        <a:t>3</a:t>
                      </a:r>
                    </a:p>
                  </a:txBody>
                  <a:tcPr marL="91440" marR="91440" marT="36576" marB="36576" anchor="ctr">
                    <a:solidFill>
                      <a:srgbClr val="F3F5F8"/>
                    </a:solidFill>
                  </a:tcPr>
                </a:tc>
                <a:tc>
                  <a:txBody>
                    <a:bodyPr wrap="square"/>
                    <a:lstStyle/>
                    <a:p>
                      <a:r>
                        <a:rPr sz="1350" b="0">
                          <a:solidFill>
                            <a:srgbClr val="14181D"/>
                          </a:solidFill>
                          <a:latin typeface="Segoe UI"/>
                        </a:rPr>
                        <a:t>Link-state gossip and the weighted cost function; wiring into the node</a:t>
                      </a:r>
                    </a:p>
                  </a:txBody>
                  <a:tcPr marL="91440" marR="91440" marT="36576" marB="36576" anchor="ctr">
                    <a:solidFill>
                      <a:srgbClr val="F3F5F8"/>
                    </a:solidFill>
                  </a:tcPr>
                </a:tc>
                <a:tc>
                  <a:txBody>
                    <a:bodyPr wrap="square"/>
                    <a:lstStyle/>
                    <a:p>
                      <a:r>
                        <a:rPr sz="1350" b="0">
                          <a:solidFill>
                            <a:srgbClr val="14181D"/>
                          </a:solidFill>
                          <a:latin typeface="Segoe UI"/>
                        </a:rPr>
                        <a:t>Twissha</a:t>
                      </a:r>
                    </a:p>
                  </a:txBody>
                  <a:tcPr marL="91440" marR="91440" marT="36576" marB="36576" anchor="ctr">
                    <a:solidFill>
                      <a:srgbClr val="F3F5F8"/>
                    </a:solidFill>
                  </a:tcPr>
                </a:tc>
              </a:tr>
              <a:tr h="457200">
                <a:tc>
                  <a:txBody>
                    <a:bodyPr wrap="square"/>
                    <a:lstStyle/>
                    <a:p>
                      <a:r>
                        <a:rPr sz="1350" b="1">
                          <a:solidFill>
                            <a:srgbClr val="14181D"/>
                          </a:solidFill>
                          <a:latin typeface="Segoe UI"/>
                        </a:rPr>
                        <a:t>3</a:t>
                      </a:r>
                    </a:p>
                  </a:txBody>
                  <a:tcPr marL="91440" marR="91440" marT="36576" marB="36576" anchor="ctr">
                    <a:solidFill>
                      <a:srgbClr val="FFFFFF"/>
                    </a:solidFill>
                  </a:tcPr>
                </a:tc>
                <a:tc>
                  <a:txBody>
                    <a:bodyPr wrap="square"/>
                    <a:lstStyle/>
                    <a:p>
                      <a:r>
                        <a:rPr sz="1350" b="0">
                          <a:solidFill>
                            <a:srgbClr val="14181D"/>
                          </a:solidFill>
                          <a:latin typeface="Segoe UI"/>
                        </a:rPr>
                        <a:t>Dijkstra pathfinding, dedup and priority queue, ACK and retry, store-and-forward</a:t>
                      </a:r>
                    </a:p>
                  </a:txBody>
                  <a:tcPr marL="91440" marR="91440" marT="36576" marB="36576" anchor="ctr">
                    <a:solidFill>
                      <a:srgbClr val="FFFFFF"/>
                    </a:solidFill>
                  </a:tcPr>
                </a:tc>
                <a:tc>
                  <a:txBody>
                    <a:bodyPr wrap="square"/>
                    <a:lstStyle/>
                    <a:p>
                      <a:r>
                        <a:rPr sz="1350" b="0">
                          <a:solidFill>
                            <a:srgbClr val="14181D"/>
                          </a:solidFill>
                          <a:latin typeface="Segoe UI"/>
                        </a:rPr>
                        <a:t>Miti</a:t>
                      </a:r>
                    </a:p>
                  </a:txBody>
                  <a:tcPr marL="91440" marR="91440" marT="36576" marB="36576" anchor="ctr">
                    <a:solidFill>
                      <a:srgbClr val="FFFFFF"/>
                    </a:solidFill>
                  </a:tcPr>
                </a:tc>
              </a:tr>
              <a:tr h="457200">
                <a:tc>
                  <a:txBody>
                    <a:bodyPr wrap="square"/>
                    <a:lstStyle/>
                    <a:p>
                      <a:r>
                        <a:rPr sz="1350" b="1">
                          <a:solidFill>
                            <a:srgbClr val="14181D"/>
                          </a:solidFill>
                          <a:latin typeface="Segoe UI"/>
                        </a:rPr>
                        <a:t>3</a:t>
                      </a:r>
                    </a:p>
                  </a:txBody>
                  <a:tcPr marL="91440" marR="91440" marT="36576" marB="36576" anchor="ctr">
                    <a:solidFill>
                      <a:srgbClr val="F3F5F8"/>
                    </a:solidFill>
                  </a:tcPr>
                </a:tc>
                <a:tc>
                  <a:txBody>
                    <a:bodyPr wrap="square"/>
                    <a:lstStyle/>
                    <a:p>
                      <a:r>
                        <a:rPr sz="1350" b="0">
                          <a:solidFill>
                            <a:srgbClr val="14181D"/>
                          </a:solidFill>
                          <a:latin typeface="Segoe UI"/>
                        </a:rPr>
                        <a:t>AES-256-GCM and Ed25519 security; SQLite message and event log</a:t>
                      </a:r>
                    </a:p>
                  </a:txBody>
                  <a:tcPr marL="91440" marR="91440" marT="36576" marB="36576" anchor="ctr">
                    <a:solidFill>
                      <a:srgbClr val="F3F5F8"/>
                    </a:solidFill>
                  </a:tcPr>
                </a:tc>
                <a:tc>
                  <a:txBody>
                    <a:bodyPr wrap="square"/>
                    <a:lstStyle/>
                    <a:p>
                      <a:r>
                        <a:rPr sz="1350" b="0">
                          <a:solidFill>
                            <a:srgbClr val="14181D"/>
                          </a:solidFill>
                          <a:latin typeface="Segoe UI"/>
                        </a:rPr>
                        <a:t>Miti</a:t>
                      </a:r>
                    </a:p>
                  </a:txBody>
                  <a:tcPr marL="91440" marR="91440" marT="36576" marB="36576" anchor="ctr">
                    <a:solidFill>
                      <a:srgbClr val="F3F5F8"/>
                    </a:solidFill>
                  </a:tcPr>
                </a:tc>
              </a:tr>
              <a:tr h="457200">
                <a:tc>
                  <a:txBody>
                    <a:bodyPr wrap="square"/>
                    <a:lstStyle/>
                    <a:p>
                      <a:r>
                        <a:rPr sz="1350" b="1">
                          <a:solidFill>
                            <a:srgbClr val="14181D"/>
                          </a:solidFill>
                          <a:latin typeface="Segoe UI"/>
                        </a:rPr>
                        <a:t>4</a:t>
                      </a:r>
                    </a:p>
                  </a:txBody>
                  <a:tcPr marL="91440" marR="91440" marT="36576" marB="36576" anchor="ctr">
                    <a:solidFill>
                      <a:srgbClr val="FFFFFF"/>
                    </a:solidFill>
                  </a:tcPr>
                </a:tc>
                <a:tc>
                  <a:txBody>
                    <a:bodyPr wrap="square"/>
                    <a:lstStyle/>
                    <a:p>
                      <a:r>
                        <a:rPr sz="1350" b="0">
                          <a:solidFill>
                            <a:srgbClr val="14181D"/>
                          </a:solidFill>
                          <a:latin typeface="Segoe UI"/>
                        </a:rPr>
                        <a:t>API, simulation lab, scenarios; engine fixes found by integration</a:t>
                      </a:r>
                    </a:p>
                  </a:txBody>
                  <a:tcPr marL="91440" marR="91440" marT="36576" marB="36576" anchor="ctr">
                    <a:solidFill>
                      <a:srgbClr val="FFFFFF"/>
                    </a:solidFill>
                  </a:tcPr>
                </a:tc>
                <a:tc>
                  <a:txBody>
                    <a:bodyPr wrap="square"/>
                    <a:lstStyle/>
                    <a:p>
                      <a:r>
                        <a:rPr sz="1350" b="0">
                          <a:solidFill>
                            <a:srgbClr val="14181D"/>
                          </a:solidFill>
                          <a:latin typeface="Segoe UI"/>
                        </a:rPr>
                        <a:t>Tanvi</a:t>
                      </a:r>
                    </a:p>
                  </a:txBody>
                  <a:tcPr marL="91440" marR="91440" marT="36576" marB="36576" anchor="ctr">
                    <a:solidFill>
                      <a:srgbClr val="FFFFFF"/>
                    </a:solidFill>
                  </a:tcPr>
                </a:tc>
              </a:tr>
              <a:tr h="457200">
                <a:tc>
                  <a:txBody>
                    <a:bodyPr wrap="square"/>
                    <a:lstStyle/>
                    <a:p>
                      <a:r>
                        <a:rPr sz="1350" b="1">
                          <a:solidFill>
                            <a:srgbClr val="14181D"/>
                          </a:solidFill>
                          <a:latin typeface="Segoe UI"/>
                        </a:rPr>
                        <a:t>4</a:t>
                      </a:r>
                    </a:p>
                  </a:txBody>
                  <a:tcPr marL="91440" marR="91440" marT="36576" marB="36576" anchor="ctr">
                    <a:solidFill>
                      <a:srgbClr val="F3F5F8"/>
                    </a:solidFill>
                  </a:tcPr>
                </a:tc>
                <a:tc>
                  <a:txBody>
                    <a:bodyPr wrap="square"/>
                    <a:lstStyle/>
                    <a:p>
                      <a:r>
                        <a:rPr sz="1350" b="0">
                          <a:solidFill>
                            <a:srgbClr val="14181D"/>
                          </a:solidFill>
                          <a:latin typeface="Segoe UI"/>
                        </a:rPr>
                        <a:t>Device app, multi-device demo, packet-parser hardening, report evidence</a:t>
                      </a:r>
                    </a:p>
                  </a:txBody>
                  <a:tcPr marL="91440" marR="91440" marT="36576" marB="36576" anchor="ctr">
                    <a:solidFill>
                      <a:srgbClr val="F3F5F8"/>
                    </a:solidFill>
                  </a:tcPr>
                </a:tc>
                <a:tc>
                  <a:txBody>
                    <a:bodyPr wrap="square"/>
                    <a:lstStyle/>
                    <a:p>
                      <a:r>
                        <a:rPr sz="1350" b="0">
                          <a:solidFill>
                            <a:srgbClr val="14181D"/>
                          </a:solidFill>
                          <a:latin typeface="Segoe UI"/>
                        </a:rPr>
                        <a:t>Twissha</a:t>
                      </a:r>
                    </a:p>
                  </a:txBody>
                  <a:tcPr marL="91440" marR="91440" marT="36576" marB="36576" anchor="ctr">
                    <a:solidFill>
                      <a:srgbClr val="F3F5F8"/>
                    </a:solidFill>
                  </a:tcPr>
                </a:tc>
              </a:tr>
              <a:tr h="457200">
                <a:tc>
                  <a:txBody>
                    <a:bodyPr wrap="square"/>
                    <a:lstStyle/>
                    <a:p>
                      <a:r>
                        <a:rPr sz="1350" b="1">
                          <a:solidFill>
                            <a:srgbClr val="14181D"/>
                          </a:solidFill>
                          <a:latin typeface="Segoe UI"/>
                        </a:rPr>
                        <a:t>4</a:t>
                      </a:r>
                    </a:p>
                  </a:txBody>
                  <a:tcPr marL="91440" marR="91440" marT="36576" marB="36576" anchor="ctr">
                    <a:solidFill>
                      <a:srgbClr val="FFFFFF"/>
                    </a:solidFill>
                  </a:tcPr>
                </a:tc>
                <a:tc>
                  <a:txBody>
                    <a:bodyPr wrap="square"/>
                    <a:lstStyle/>
                    <a:p>
                      <a:r>
                        <a:rPr sz="1350" b="0">
                          <a:solidFill>
                            <a:srgbClr val="14181D"/>
                          </a:solidFill>
                          <a:latin typeface="Segoe UI"/>
                        </a:rPr>
                        <a:t>Device server: send, history, safe, structured SOS, CSV export, immediate flush</a:t>
                      </a:r>
                    </a:p>
                  </a:txBody>
                  <a:tcPr marL="91440" marR="91440" marT="36576" marB="36576" anchor="ctr">
                    <a:solidFill>
                      <a:srgbClr val="FFFFFF"/>
                    </a:solidFill>
                  </a:tcPr>
                </a:tc>
                <a:tc>
                  <a:txBody>
                    <a:bodyPr wrap="square"/>
                    <a:lstStyle/>
                    <a:p>
                      <a:r>
                        <a:rPr sz="1350" b="0">
                          <a:solidFill>
                            <a:srgbClr val="14181D"/>
                          </a:solidFill>
                          <a:latin typeface="Segoe UI"/>
                        </a:rPr>
                        <a:t>Miti</a:t>
                      </a:r>
                    </a:p>
                  </a:txBody>
                  <a:tcPr marL="91440" marR="91440" marT="36576" marB="36576" anchor="ctr">
                    <a:solidFill>
                      <a:srgbClr val="FFFFFF"/>
                    </a:solidFill>
                  </a:tcPr>
                </a:tc>
              </a:tr>
            </a:tbl>
          </a:graphicData>
        </a:graphic>
      </p:graphicFrame>
      <p:sp>
        <p:nvSpPr>
          <p:cNvPr id="9" name="TextBox 8"/>
          <p:cNvSpPr txBox="1"/>
          <p:nvPr/>
        </p:nvSpPr>
        <p:spPr>
          <a:xfrm>
            <a:off x="548640" y="5989320"/>
            <a:ext cx="11064240" cy="320040"/>
          </a:xfrm>
          <a:prstGeom prst="rect">
            <a:avLst/>
          </a:prstGeom>
          <a:noFill/>
        </p:spPr>
        <p:txBody>
          <a:bodyPr wrap="square" lIns="0" rIns="0" tIns="0" bIns="0" anchor="t">
            <a:spAutoFit/>
          </a:bodyPr>
          <a:lstStyle/>
          <a:p>
            <a:pPr algn="l">
              <a:lnSpc>
                <a:spcPct val="110000"/>
              </a:lnSpc>
            </a:pPr>
            <a:r>
              <a:rPr sz="1400" b="0" i="0">
                <a:solidFill>
                  <a:srgbClr val="4D5864"/>
                </a:solidFill>
                <a:latin typeface="Segoe UI"/>
              </a:rPr>
              <a:t>Every module has its own test file. The suite has 331 tests in total.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III  ·  THE ALGORITHMS</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How an SOS travels</a:t>
            </a:r>
          </a:p>
        </p:txBody>
      </p:sp>
      <p:cxnSp>
        <p:nvCxnSpPr>
          <p:cNvPr id="4" name="Connector 3"/>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6" name="TextBox 5"/>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5 / 14</a:t>
            </a:r>
          </a:p>
        </p:txBody>
      </p:sp>
      <p:sp>
        <p:nvSpPr>
          <p:cNvPr id="7" name="Rounded Rectangle 6"/>
          <p:cNvSpPr/>
          <p:nvPr/>
        </p:nvSpPr>
        <p:spPr>
          <a:xfrm>
            <a:off x="548640" y="1600200"/>
            <a:ext cx="2103120" cy="20116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22376" y="1847088"/>
            <a:ext cx="420624" cy="420624"/>
          </a:xfrm>
          <a:prstGeom prst="ellipse">
            <a:avLst/>
          </a:prstGeom>
          <a:solidFill>
            <a:srgbClr val="5B9CF0"/>
          </a:solidFill>
          <a:ln w="952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865376"/>
            <a:ext cx="420624" cy="420624"/>
          </a:xfrm>
          <a:prstGeom prst="rect">
            <a:avLst/>
          </a:prstGeom>
          <a:noFill/>
        </p:spPr>
        <p:txBody>
          <a:bodyPr wrap="square" lIns="0" rIns="0" tIns="0" bIns="0" anchor="ctr">
            <a:spAutoFit/>
          </a:bodyPr>
          <a:lstStyle/>
          <a:p>
            <a:pPr algn="ctr">
              <a:lnSpc>
                <a:spcPct val="110000"/>
              </a:lnSpc>
            </a:pPr>
            <a:r>
              <a:rPr sz="1500" b="1" i="0">
                <a:solidFill>
                  <a:srgbClr val="0E1114"/>
                </a:solidFill>
                <a:latin typeface="Segoe UI"/>
              </a:rPr>
              <a:t>1</a:t>
            </a:r>
          </a:p>
        </p:txBody>
      </p:sp>
      <p:sp>
        <p:nvSpPr>
          <p:cNvPr id="10" name="TextBox 9"/>
          <p:cNvSpPr txBox="1"/>
          <p:nvPr/>
        </p:nvSpPr>
        <p:spPr>
          <a:xfrm>
            <a:off x="1298448" y="1938528"/>
            <a:ext cx="1280160" cy="320040"/>
          </a:xfrm>
          <a:prstGeom prst="rect">
            <a:avLst/>
          </a:prstGeom>
          <a:noFill/>
        </p:spPr>
        <p:txBody>
          <a:bodyPr wrap="square" lIns="0" rIns="0" tIns="0" bIns="0" anchor="t">
            <a:spAutoFit/>
          </a:bodyPr>
          <a:lstStyle/>
          <a:p>
            <a:pPr algn="l">
              <a:lnSpc>
                <a:spcPct val="110000"/>
              </a:lnSpc>
            </a:pPr>
            <a:r>
              <a:rPr sz="1600" b="1" i="0">
                <a:solidFill>
                  <a:srgbClr val="14181D"/>
                </a:solidFill>
                <a:latin typeface="Segoe UI"/>
              </a:rPr>
              <a:t>Route</a:t>
            </a:r>
          </a:p>
        </p:txBody>
      </p:sp>
      <p:sp>
        <p:nvSpPr>
          <p:cNvPr id="11" name="TextBox 10"/>
          <p:cNvSpPr txBox="1"/>
          <p:nvPr/>
        </p:nvSpPr>
        <p:spPr>
          <a:xfrm>
            <a:off x="731520" y="2487168"/>
            <a:ext cx="1737360" cy="1097280"/>
          </a:xfrm>
          <a:prstGeom prst="rect">
            <a:avLst/>
          </a:prstGeom>
          <a:noFill/>
        </p:spPr>
        <p:txBody>
          <a:bodyPr wrap="square" lIns="0" rIns="0" tIns="0" bIns="0" anchor="t">
            <a:spAutoFit/>
          </a:bodyPr>
          <a:lstStyle/>
          <a:p>
            <a:pPr algn="l">
              <a:lnSpc>
                <a:spcPct val="112000"/>
              </a:lnSpc>
            </a:pPr>
            <a:r>
              <a:rPr sz="1250" b="0" i="0">
                <a:solidFill>
                  <a:srgbClr val="4D5864"/>
                </a:solidFill>
                <a:latin typeface="Segoe UI"/>
              </a:rPr>
              <a:t>Dijkstra over the link-state graph picks the cheapest path</a:t>
            </a:r>
          </a:p>
        </p:txBody>
      </p:sp>
      <p:sp>
        <p:nvSpPr>
          <p:cNvPr id="12" name="Rounded Rectangle 11"/>
          <p:cNvSpPr/>
          <p:nvPr/>
        </p:nvSpPr>
        <p:spPr>
          <a:xfrm>
            <a:off x="2788920" y="1600200"/>
            <a:ext cx="2103120" cy="20116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62656" y="1847088"/>
            <a:ext cx="420624" cy="420624"/>
          </a:xfrm>
          <a:prstGeom prst="ellipse">
            <a:avLst/>
          </a:prstGeom>
          <a:solidFill>
            <a:srgbClr val="5B9CF0"/>
          </a:solidFill>
          <a:ln w="952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2656" y="1865376"/>
            <a:ext cx="420624" cy="420624"/>
          </a:xfrm>
          <a:prstGeom prst="rect">
            <a:avLst/>
          </a:prstGeom>
          <a:noFill/>
        </p:spPr>
        <p:txBody>
          <a:bodyPr wrap="square" lIns="0" rIns="0" tIns="0" bIns="0" anchor="ctr">
            <a:spAutoFit/>
          </a:bodyPr>
          <a:lstStyle/>
          <a:p>
            <a:pPr algn="ctr">
              <a:lnSpc>
                <a:spcPct val="110000"/>
              </a:lnSpc>
            </a:pPr>
            <a:r>
              <a:rPr sz="1500" b="1" i="0">
                <a:solidFill>
                  <a:srgbClr val="0E1114"/>
                </a:solidFill>
                <a:latin typeface="Segoe UI"/>
              </a:rPr>
              <a:t>2</a:t>
            </a:r>
          </a:p>
        </p:txBody>
      </p:sp>
      <p:sp>
        <p:nvSpPr>
          <p:cNvPr id="15" name="TextBox 14"/>
          <p:cNvSpPr txBox="1"/>
          <p:nvPr/>
        </p:nvSpPr>
        <p:spPr>
          <a:xfrm>
            <a:off x="3538727" y="1938528"/>
            <a:ext cx="1280160" cy="320040"/>
          </a:xfrm>
          <a:prstGeom prst="rect">
            <a:avLst/>
          </a:prstGeom>
          <a:noFill/>
        </p:spPr>
        <p:txBody>
          <a:bodyPr wrap="square" lIns="0" rIns="0" tIns="0" bIns="0" anchor="t">
            <a:spAutoFit/>
          </a:bodyPr>
          <a:lstStyle/>
          <a:p>
            <a:pPr algn="l">
              <a:lnSpc>
                <a:spcPct val="110000"/>
              </a:lnSpc>
            </a:pPr>
            <a:r>
              <a:rPr sz="1600" b="1" i="0">
                <a:solidFill>
                  <a:srgbClr val="14181D"/>
                </a:solidFill>
                <a:latin typeface="Segoe UI"/>
              </a:rPr>
              <a:t>Seal</a:t>
            </a:r>
          </a:p>
        </p:txBody>
      </p:sp>
      <p:sp>
        <p:nvSpPr>
          <p:cNvPr id="16" name="TextBox 15"/>
          <p:cNvSpPr txBox="1"/>
          <p:nvPr/>
        </p:nvSpPr>
        <p:spPr>
          <a:xfrm>
            <a:off x="2971800" y="2487168"/>
            <a:ext cx="1737360" cy="1097280"/>
          </a:xfrm>
          <a:prstGeom prst="rect">
            <a:avLst/>
          </a:prstGeom>
          <a:noFill/>
        </p:spPr>
        <p:txBody>
          <a:bodyPr wrap="square" lIns="0" rIns="0" tIns="0" bIns="0" anchor="t">
            <a:spAutoFit/>
          </a:bodyPr>
          <a:lstStyle/>
          <a:p>
            <a:pPr algn="l">
              <a:lnSpc>
                <a:spcPct val="112000"/>
              </a:lnSpc>
            </a:pPr>
            <a:r>
              <a:rPr sz="1250" b="0" i="0">
                <a:solidFill>
                  <a:srgbClr val="4D5864"/>
                </a:solidFill>
                <a:latin typeface="Segoe UI"/>
              </a:rPr>
              <a:t>AES-256-GCM encrypts the payload; Ed25519 signs the identity</a:t>
            </a:r>
          </a:p>
        </p:txBody>
      </p:sp>
      <p:sp>
        <p:nvSpPr>
          <p:cNvPr id="17" name="Rounded Rectangle 16"/>
          <p:cNvSpPr/>
          <p:nvPr/>
        </p:nvSpPr>
        <p:spPr>
          <a:xfrm>
            <a:off x="5029199" y="1600200"/>
            <a:ext cx="2103120" cy="20116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202935" y="1847088"/>
            <a:ext cx="420624" cy="420624"/>
          </a:xfrm>
          <a:prstGeom prst="ellipse">
            <a:avLst/>
          </a:prstGeom>
          <a:solidFill>
            <a:srgbClr val="5B9CF0"/>
          </a:solidFill>
          <a:ln w="952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02936" y="1865376"/>
            <a:ext cx="420624" cy="420624"/>
          </a:xfrm>
          <a:prstGeom prst="rect">
            <a:avLst/>
          </a:prstGeom>
          <a:noFill/>
        </p:spPr>
        <p:txBody>
          <a:bodyPr wrap="square" lIns="0" rIns="0" tIns="0" bIns="0" anchor="ctr">
            <a:spAutoFit/>
          </a:bodyPr>
          <a:lstStyle/>
          <a:p>
            <a:pPr algn="ctr">
              <a:lnSpc>
                <a:spcPct val="110000"/>
              </a:lnSpc>
            </a:pPr>
            <a:r>
              <a:rPr sz="1500" b="1" i="0">
                <a:solidFill>
                  <a:srgbClr val="0E1114"/>
                </a:solidFill>
                <a:latin typeface="Segoe UI"/>
              </a:rPr>
              <a:t>3</a:t>
            </a:r>
          </a:p>
        </p:txBody>
      </p:sp>
      <p:sp>
        <p:nvSpPr>
          <p:cNvPr id="20" name="TextBox 19"/>
          <p:cNvSpPr txBox="1"/>
          <p:nvPr/>
        </p:nvSpPr>
        <p:spPr>
          <a:xfrm>
            <a:off x="5779007" y="1938528"/>
            <a:ext cx="1280160" cy="320040"/>
          </a:xfrm>
          <a:prstGeom prst="rect">
            <a:avLst/>
          </a:prstGeom>
          <a:noFill/>
        </p:spPr>
        <p:txBody>
          <a:bodyPr wrap="square" lIns="0" rIns="0" tIns="0" bIns="0" anchor="t">
            <a:spAutoFit/>
          </a:bodyPr>
          <a:lstStyle/>
          <a:p>
            <a:pPr algn="l">
              <a:lnSpc>
                <a:spcPct val="110000"/>
              </a:lnSpc>
            </a:pPr>
            <a:r>
              <a:rPr sz="1600" b="1" i="0">
                <a:solidFill>
                  <a:srgbClr val="14181D"/>
                </a:solidFill>
                <a:latin typeface="Segoe UI"/>
              </a:rPr>
              <a:t>Relay</a:t>
            </a:r>
          </a:p>
        </p:txBody>
      </p:sp>
      <p:sp>
        <p:nvSpPr>
          <p:cNvPr id="21" name="TextBox 20"/>
          <p:cNvSpPr txBox="1"/>
          <p:nvPr/>
        </p:nvSpPr>
        <p:spPr>
          <a:xfrm>
            <a:off x="5212079" y="2487168"/>
            <a:ext cx="1737360" cy="1097280"/>
          </a:xfrm>
          <a:prstGeom prst="rect">
            <a:avLst/>
          </a:prstGeom>
          <a:noFill/>
        </p:spPr>
        <p:txBody>
          <a:bodyPr wrap="square" lIns="0" rIns="0" tIns="0" bIns="0" anchor="t">
            <a:spAutoFit/>
          </a:bodyPr>
          <a:lstStyle/>
          <a:p>
            <a:pPr algn="l">
              <a:lnSpc>
                <a:spcPct val="112000"/>
              </a:lnSpc>
            </a:pPr>
            <a:r>
              <a:rPr sz="1250" b="0" i="0">
                <a:solidFill>
                  <a:srgbClr val="4D5864"/>
                </a:solidFill>
                <a:latin typeface="Segoe UI"/>
              </a:rPr>
              <a:t>Every hop sends SOS before routine traffic</a:t>
            </a:r>
          </a:p>
        </p:txBody>
      </p:sp>
      <p:sp>
        <p:nvSpPr>
          <p:cNvPr id="22" name="Rounded Rectangle 21"/>
          <p:cNvSpPr/>
          <p:nvPr/>
        </p:nvSpPr>
        <p:spPr>
          <a:xfrm>
            <a:off x="7269479" y="1600200"/>
            <a:ext cx="2103120" cy="20116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443215" y="1847088"/>
            <a:ext cx="420624" cy="420624"/>
          </a:xfrm>
          <a:prstGeom prst="ellipse">
            <a:avLst/>
          </a:prstGeom>
          <a:solidFill>
            <a:srgbClr val="5B9CF0"/>
          </a:solidFill>
          <a:ln w="952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43215" y="1865376"/>
            <a:ext cx="420624" cy="420624"/>
          </a:xfrm>
          <a:prstGeom prst="rect">
            <a:avLst/>
          </a:prstGeom>
          <a:noFill/>
        </p:spPr>
        <p:txBody>
          <a:bodyPr wrap="square" lIns="0" rIns="0" tIns="0" bIns="0" anchor="ctr">
            <a:spAutoFit/>
          </a:bodyPr>
          <a:lstStyle/>
          <a:p>
            <a:pPr algn="ctr">
              <a:lnSpc>
                <a:spcPct val="110000"/>
              </a:lnSpc>
            </a:pPr>
            <a:r>
              <a:rPr sz="1500" b="1" i="0">
                <a:solidFill>
                  <a:srgbClr val="0E1114"/>
                </a:solidFill>
                <a:latin typeface="Segoe UI"/>
              </a:rPr>
              <a:t>4</a:t>
            </a:r>
          </a:p>
        </p:txBody>
      </p:sp>
      <p:sp>
        <p:nvSpPr>
          <p:cNvPr id="25" name="TextBox 24"/>
          <p:cNvSpPr txBox="1"/>
          <p:nvPr/>
        </p:nvSpPr>
        <p:spPr>
          <a:xfrm>
            <a:off x="8019288" y="1938528"/>
            <a:ext cx="1280160" cy="320040"/>
          </a:xfrm>
          <a:prstGeom prst="rect">
            <a:avLst/>
          </a:prstGeom>
          <a:noFill/>
        </p:spPr>
        <p:txBody>
          <a:bodyPr wrap="square" lIns="0" rIns="0" tIns="0" bIns="0" anchor="t">
            <a:spAutoFit/>
          </a:bodyPr>
          <a:lstStyle/>
          <a:p>
            <a:pPr algn="l">
              <a:lnSpc>
                <a:spcPct val="110000"/>
              </a:lnSpc>
            </a:pPr>
            <a:r>
              <a:rPr sz="1600" b="1" i="0">
                <a:solidFill>
                  <a:srgbClr val="14181D"/>
                </a:solidFill>
                <a:latin typeface="Segoe UI"/>
              </a:rPr>
              <a:t>Confirm</a:t>
            </a:r>
          </a:p>
        </p:txBody>
      </p:sp>
      <p:sp>
        <p:nvSpPr>
          <p:cNvPr id="26" name="TextBox 25"/>
          <p:cNvSpPr txBox="1"/>
          <p:nvPr/>
        </p:nvSpPr>
        <p:spPr>
          <a:xfrm>
            <a:off x="7452359" y="2487168"/>
            <a:ext cx="1737360" cy="1097280"/>
          </a:xfrm>
          <a:prstGeom prst="rect">
            <a:avLst/>
          </a:prstGeom>
          <a:noFill/>
        </p:spPr>
        <p:txBody>
          <a:bodyPr wrap="square" lIns="0" rIns="0" tIns="0" bIns="0" anchor="t">
            <a:spAutoFit/>
          </a:bodyPr>
          <a:lstStyle/>
          <a:p>
            <a:pPr algn="l">
              <a:lnSpc>
                <a:spcPct val="112000"/>
              </a:lnSpc>
            </a:pPr>
            <a:r>
              <a:rPr sz="1250" b="0" i="0">
                <a:solidFill>
                  <a:srgbClr val="4D5864"/>
                </a:solidFill>
                <a:latin typeface="Segoe UI"/>
              </a:rPr>
              <a:t>The receiver acknowledges; a missed ACK retries on a recomputed route</a:t>
            </a:r>
          </a:p>
        </p:txBody>
      </p:sp>
      <p:sp>
        <p:nvSpPr>
          <p:cNvPr id="27" name="Rounded Rectangle 26"/>
          <p:cNvSpPr/>
          <p:nvPr/>
        </p:nvSpPr>
        <p:spPr>
          <a:xfrm>
            <a:off x="9509759" y="1600200"/>
            <a:ext cx="2103120" cy="20116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83495" y="1847088"/>
            <a:ext cx="420624" cy="420624"/>
          </a:xfrm>
          <a:prstGeom prst="ellipse">
            <a:avLst/>
          </a:prstGeom>
          <a:solidFill>
            <a:srgbClr val="5B9CF0"/>
          </a:solidFill>
          <a:ln w="9525">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83495" y="1865376"/>
            <a:ext cx="420624" cy="420624"/>
          </a:xfrm>
          <a:prstGeom prst="rect">
            <a:avLst/>
          </a:prstGeom>
          <a:noFill/>
        </p:spPr>
        <p:txBody>
          <a:bodyPr wrap="square" lIns="0" rIns="0" tIns="0" bIns="0" anchor="ctr">
            <a:spAutoFit/>
          </a:bodyPr>
          <a:lstStyle/>
          <a:p>
            <a:pPr algn="ctr">
              <a:lnSpc>
                <a:spcPct val="110000"/>
              </a:lnSpc>
            </a:pPr>
            <a:r>
              <a:rPr sz="1500" b="1" i="0">
                <a:solidFill>
                  <a:srgbClr val="0E1114"/>
                </a:solidFill>
                <a:latin typeface="Segoe UI"/>
              </a:rPr>
              <a:t>5</a:t>
            </a:r>
          </a:p>
        </p:txBody>
      </p:sp>
      <p:sp>
        <p:nvSpPr>
          <p:cNvPr id="30" name="TextBox 29"/>
          <p:cNvSpPr txBox="1"/>
          <p:nvPr/>
        </p:nvSpPr>
        <p:spPr>
          <a:xfrm>
            <a:off x="10259567" y="1938528"/>
            <a:ext cx="1280160" cy="320040"/>
          </a:xfrm>
          <a:prstGeom prst="rect">
            <a:avLst/>
          </a:prstGeom>
          <a:noFill/>
        </p:spPr>
        <p:txBody>
          <a:bodyPr wrap="square" lIns="0" rIns="0" tIns="0" bIns="0" anchor="t">
            <a:spAutoFit/>
          </a:bodyPr>
          <a:lstStyle/>
          <a:p>
            <a:pPr algn="l">
              <a:lnSpc>
                <a:spcPct val="110000"/>
              </a:lnSpc>
            </a:pPr>
            <a:r>
              <a:rPr sz="1600" b="1" i="0">
                <a:solidFill>
                  <a:srgbClr val="14181D"/>
                </a:solidFill>
                <a:latin typeface="Segoe UI"/>
              </a:rPr>
              <a:t>Hold</a:t>
            </a:r>
          </a:p>
        </p:txBody>
      </p:sp>
      <p:sp>
        <p:nvSpPr>
          <p:cNvPr id="31" name="TextBox 30"/>
          <p:cNvSpPr txBox="1"/>
          <p:nvPr/>
        </p:nvSpPr>
        <p:spPr>
          <a:xfrm>
            <a:off x="9692639" y="2487168"/>
            <a:ext cx="1737360" cy="1097280"/>
          </a:xfrm>
          <a:prstGeom prst="rect">
            <a:avLst/>
          </a:prstGeom>
          <a:noFill/>
        </p:spPr>
        <p:txBody>
          <a:bodyPr wrap="square" lIns="0" rIns="0" tIns="0" bIns="0" anchor="t">
            <a:spAutoFit/>
          </a:bodyPr>
          <a:lstStyle/>
          <a:p>
            <a:pPr algn="l">
              <a:lnSpc>
                <a:spcPct val="112000"/>
              </a:lnSpc>
            </a:pPr>
            <a:r>
              <a:rPr sz="1250" b="0" i="0">
                <a:solidFill>
                  <a:srgbClr val="4D5864"/>
                </a:solidFill>
                <a:latin typeface="Segoe UI"/>
              </a:rPr>
              <a:t>No route? The message is kept and sent when a path appears</a:t>
            </a:r>
          </a:p>
        </p:txBody>
      </p:sp>
      <p:sp>
        <p:nvSpPr>
          <p:cNvPr id="32" name="TextBox 31"/>
          <p:cNvSpPr txBox="1"/>
          <p:nvPr/>
        </p:nvSpPr>
        <p:spPr>
          <a:xfrm>
            <a:off x="548640" y="3931920"/>
            <a:ext cx="5486400" cy="274320"/>
          </a:xfrm>
          <a:prstGeom prst="rect">
            <a:avLst/>
          </a:prstGeom>
          <a:noFill/>
        </p:spPr>
        <p:txBody>
          <a:bodyPr wrap="square" lIns="0" rIns="0" tIns="0" bIns="0" anchor="t">
            <a:spAutoFit/>
          </a:bodyPr>
          <a:lstStyle/>
          <a:p>
            <a:pPr algn="l">
              <a:lnSpc>
                <a:spcPct val="110000"/>
              </a:lnSpc>
            </a:pPr>
            <a:r>
              <a:rPr sz="1200" b="1" i="0">
                <a:solidFill>
                  <a:srgbClr val="4D5864"/>
                </a:solidFill>
                <a:latin typeface="Segoe UI"/>
              </a:rPr>
              <a:t>THE COST OF ONE LINK</a:t>
            </a:r>
          </a:p>
        </p:txBody>
      </p:sp>
      <p:sp>
        <p:nvSpPr>
          <p:cNvPr id="33" name="Rounded Rectangle 32"/>
          <p:cNvSpPr/>
          <p:nvPr/>
        </p:nvSpPr>
        <p:spPr>
          <a:xfrm>
            <a:off x="548640" y="4297680"/>
            <a:ext cx="5669280" cy="914400"/>
          </a:xfrm>
          <a:prstGeom prst="roundRect">
            <a:avLst>
              <a:gd name="adj" fmla="val 6000"/>
            </a:avLst>
          </a:prstGeom>
          <a:solidFill>
            <a:srgbClr val="0E11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297680"/>
            <a:ext cx="5669280" cy="914400"/>
          </a:xfrm>
          <a:prstGeom prst="rect">
            <a:avLst/>
          </a:prstGeom>
          <a:noFill/>
        </p:spPr>
        <p:txBody>
          <a:bodyPr wrap="square" lIns="0" rIns="0" tIns="0" bIns="0" anchor="ctr">
            <a:spAutoFit/>
          </a:bodyPr>
          <a:lstStyle/>
          <a:p>
            <a:pPr algn="ctr">
              <a:lnSpc>
                <a:spcPct val="110000"/>
              </a:lnSpc>
            </a:pPr>
            <a:r>
              <a:rPr sz="2600" b="1" i="0">
                <a:solidFill>
                  <a:srgbClr val="EEF1F4"/>
                </a:solidFill>
                <a:latin typeface="Segoe UI"/>
              </a:rPr>
              <a:t>cost  =  1  +  5 (1 − q)  +  3 f</a:t>
            </a:r>
          </a:p>
        </p:txBody>
      </p:sp>
      <p:sp>
        <p:nvSpPr>
          <p:cNvPr id="35" name="TextBox 34"/>
          <p:cNvSpPr txBox="1"/>
          <p:nvPr/>
        </p:nvSpPr>
        <p:spPr>
          <a:xfrm>
            <a:off x="548640" y="5349240"/>
            <a:ext cx="5669280" cy="914400"/>
          </a:xfrm>
          <a:prstGeom prst="rect">
            <a:avLst/>
          </a:prstGeom>
          <a:noFill/>
        </p:spPr>
        <p:txBody>
          <a:bodyPr wrap="square" lIns="0" rIns="0" tIns="0" bIns="0" anchor="t">
            <a:spAutoFit/>
          </a:bodyPr>
          <a:lstStyle/>
          <a:p>
            <a:pPr algn="l">
              <a:lnSpc>
                <a:spcPct val="115000"/>
              </a:lnSpc>
            </a:pPr>
            <a:r>
              <a:rPr sz="1300" b="0" i="0">
                <a:solidFill>
                  <a:srgbClr val="4D5864"/>
                </a:solidFill>
                <a:latin typeface="Segoe UI"/>
              </a:rPr>
              <a:t>q is the share of the last 20 HELLO beacons heard. f is the number of recent ACK timeouts. Weak or failing links cost more, so the router prefers reliable links over merely short ones.</a:t>
            </a:r>
          </a:p>
        </p:txBody>
      </p:sp>
      <p:sp>
        <p:nvSpPr>
          <p:cNvPr id="36" name="TextBox 35"/>
          <p:cNvSpPr txBox="1"/>
          <p:nvPr/>
        </p:nvSpPr>
        <p:spPr>
          <a:xfrm>
            <a:off x="6583680" y="3931920"/>
            <a:ext cx="5029200" cy="274320"/>
          </a:xfrm>
          <a:prstGeom prst="rect">
            <a:avLst/>
          </a:prstGeom>
          <a:noFill/>
        </p:spPr>
        <p:txBody>
          <a:bodyPr wrap="square" lIns="0" rIns="0" tIns="0" bIns="0" anchor="t">
            <a:spAutoFit/>
          </a:bodyPr>
          <a:lstStyle/>
          <a:p>
            <a:pPr algn="l">
              <a:lnSpc>
                <a:spcPct val="110000"/>
              </a:lnSpc>
            </a:pPr>
            <a:r>
              <a:rPr sz="1200" b="1" i="0">
                <a:solidFill>
                  <a:srgbClr val="4D5864"/>
                </a:solidFill>
                <a:latin typeface="Segoe UI"/>
              </a:rPr>
              <a:t>WHAT THAT MEANS</a:t>
            </a:r>
          </a:p>
        </p:txBody>
      </p:sp>
      <p:sp>
        <p:nvSpPr>
          <p:cNvPr id="37" name="TextBox 36"/>
          <p:cNvSpPr txBox="1"/>
          <p:nvPr/>
        </p:nvSpPr>
        <p:spPr>
          <a:xfrm>
            <a:off x="6583680" y="4297680"/>
            <a:ext cx="5029200" cy="2103120"/>
          </a:xfrm>
          <a:prstGeom prst="rect">
            <a:avLst/>
          </a:prstGeom>
          <a:noFill/>
        </p:spPr>
        <p:txBody>
          <a:bodyPr wrap="square" lIns="0" rIns="0" tIns="0" bIns="0">
            <a:spAutoFit/>
          </a:bodyPr>
          <a:lstStyle/>
          <a:p>
            <a:pPr marL="201168" indent="-201168">
              <a:lnSpc>
                <a:spcPct val="108000"/>
              </a:lnSpc>
              <a:spcAft>
                <a:spcPts val="900"/>
              </a:spcAft>
              <a:buChar char="•"/>
            </a:pPr>
            <a:r>
              <a:rPr sz="1400" b="1">
                <a:solidFill>
                  <a:srgbClr val="14181D"/>
                </a:solidFill>
                <a:latin typeface="Segoe UI"/>
              </a:rPr>
              <a:t>A perfect link costs 1.00. </a:t>
            </a:r>
            <a:r>
              <a:rPr sz="1400" b="0">
                <a:solidFill>
                  <a:srgbClr val="14181D"/>
                </a:solidFill>
                <a:latin typeface="Segoe UI"/>
              </a:rPr>
              <a:t>A link that loses 45% of beacons (q = 0.55) costs 3.25.</a:t>
            </a:r>
          </a:p>
          <a:p>
            <a:pPr marL="201168" indent="-201168">
              <a:lnSpc>
                <a:spcPct val="108000"/>
              </a:lnSpc>
              <a:spcAft>
                <a:spcPts val="900"/>
              </a:spcAft>
              <a:buChar char="•"/>
            </a:pPr>
            <a:r>
              <a:rPr sz="1400" b="0">
                <a:solidFill>
                  <a:srgbClr val="14181D"/>
                </a:solidFill>
                <a:latin typeface="Segoe UI"/>
              </a:rPr>
              <a:t>A longer path over clean links can beat a shorter path over a bad one.</a:t>
            </a:r>
          </a:p>
          <a:p>
            <a:pPr marL="201168" indent="-201168">
              <a:lnSpc>
                <a:spcPct val="108000"/>
              </a:lnSpc>
              <a:spcAft>
                <a:spcPts val="900"/>
              </a:spcAft>
              <a:buChar char="•"/>
            </a:pPr>
            <a:r>
              <a:rPr sz="1400" b="0">
                <a:solidFill>
                  <a:srgbClr val="14181D"/>
                </a:solidFill>
                <a:latin typeface="Segoe UI"/>
              </a:rPr>
              <a:t>SOS packets jump the queue at every hop, not only at the source.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III  ·  P2 REPOSITORY  ·  P3 BRANCHING</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One branch per phase, never merged back</a:t>
            </a:r>
          </a:p>
        </p:txBody>
      </p:sp>
      <p:sp>
        <p:nvSpPr>
          <p:cNvPr id="4" name="TextBox 3"/>
          <p:cNvSpPr txBox="1"/>
          <p:nvPr/>
        </p:nvSpPr>
        <p:spPr>
          <a:xfrm>
            <a:off x="548640" y="1261872"/>
            <a:ext cx="11064240" cy="365760"/>
          </a:xfrm>
          <a:prstGeom prst="rect">
            <a:avLst/>
          </a:prstGeom>
          <a:noFill/>
        </p:spPr>
        <p:txBody>
          <a:bodyPr wrap="square" lIns="0" rIns="0" tIns="0" bIns="0" anchor="t">
            <a:spAutoFit/>
          </a:bodyPr>
          <a:lstStyle/>
          <a:p>
            <a:pPr algn="l">
              <a:lnSpc>
                <a:spcPct val="110000"/>
              </a:lnSpc>
            </a:pPr>
            <a:r>
              <a:rPr sz="1500" b="0" i="0">
                <a:solidFill>
                  <a:srgbClr val="4D5864"/>
                </a:solidFill>
                <a:latin typeface="Segoe UI"/>
              </a:rPr>
              <a:t>Each phase branch is a snapshot a reviewer can open, run and grade on its own.</a:t>
            </a:r>
          </a:p>
        </p:txBody>
      </p:sp>
      <p:cxnSp>
        <p:nvCxnSpPr>
          <p:cNvPr id="5" name="Connector 4"/>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7" name="TextBox 6"/>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6 / 14</a:t>
            </a:r>
          </a:p>
        </p:txBody>
      </p:sp>
      <p:sp>
        <p:nvSpPr>
          <p:cNvPr id="8" name="Rounded Rectangle 7"/>
          <p:cNvSpPr/>
          <p:nvPr/>
        </p:nvSpPr>
        <p:spPr>
          <a:xfrm>
            <a:off x="548640" y="1783080"/>
            <a:ext cx="173736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74519"/>
            <a:ext cx="1463039" cy="256032"/>
          </a:xfrm>
          <a:prstGeom prst="rect">
            <a:avLst/>
          </a:prstGeom>
          <a:noFill/>
        </p:spPr>
        <p:txBody>
          <a:bodyPr wrap="square" lIns="0" rIns="0" tIns="0" bIns="0" anchor="t">
            <a:spAutoFit/>
          </a:bodyPr>
          <a:lstStyle/>
          <a:p>
            <a:pPr algn="l">
              <a:lnSpc>
                <a:spcPct val="110000"/>
              </a:lnSpc>
            </a:pPr>
            <a:r>
              <a:rPr sz="1050" b="1" i="0">
                <a:solidFill>
                  <a:srgbClr val="4D5864"/>
                </a:solidFill>
                <a:latin typeface="Segoe UI"/>
              </a:rPr>
              <a:t>PHASE 1</a:t>
            </a:r>
          </a:p>
        </p:txBody>
      </p:sp>
      <p:sp>
        <p:nvSpPr>
          <p:cNvPr id="10" name="TextBox 9"/>
          <p:cNvSpPr txBox="1"/>
          <p:nvPr/>
        </p:nvSpPr>
        <p:spPr>
          <a:xfrm>
            <a:off x="685800" y="2148840"/>
            <a:ext cx="1463039" cy="320040"/>
          </a:xfrm>
          <a:prstGeom prst="rect">
            <a:avLst/>
          </a:prstGeom>
          <a:noFill/>
        </p:spPr>
        <p:txBody>
          <a:bodyPr wrap="square" lIns="0" rIns="0" tIns="0" bIns="0" anchor="t">
            <a:spAutoFit/>
          </a:bodyPr>
          <a:lstStyle/>
          <a:p>
            <a:pPr algn="l">
              <a:lnSpc>
                <a:spcPct val="110000"/>
              </a:lnSpc>
            </a:pPr>
            <a:r>
              <a:rPr sz="1400" b="1" i="0">
                <a:solidFill>
                  <a:srgbClr val="14181D"/>
                </a:solidFill>
                <a:latin typeface="Segoe UI"/>
              </a:rPr>
              <a:t>develop</a:t>
            </a:r>
          </a:p>
        </p:txBody>
      </p:sp>
      <p:sp>
        <p:nvSpPr>
          <p:cNvPr id="11" name="TextBox 10"/>
          <p:cNvSpPr txBox="1"/>
          <p:nvPr/>
        </p:nvSpPr>
        <p:spPr>
          <a:xfrm>
            <a:off x="685800" y="2560320"/>
            <a:ext cx="1463039" cy="548640"/>
          </a:xfrm>
          <a:prstGeom prst="rect">
            <a:avLst/>
          </a:prstGeom>
          <a:noFill/>
        </p:spPr>
        <p:txBody>
          <a:bodyPr wrap="square" lIns="0" rIns="0" tIns="0" bIns="0" anchor="t">
            <a:spAutoFit/>
          </a:bodyPr>
          <a:lstStyle/>
          <a:p>
            <a:pPr algn="l">
              <a:lnSpc>
                <a:spcPct val="110000"/>
              </a:lnSpc>
            </a:pPr>
            <a:r>
              <a:rPr sz="2800" b="1" i="0">
                <a:solidFill>
                  <a:srgbClr val="5B9CF0"/>
                </a:solidFill>
                <a:latin typeface="Segoe UI"/>
              </a:rPr>
              <a:t>14</a:t>
            </a:r>
          </a:p>
        </p:txBody>
      </p:sp>
      <p:sp>
        <p:nvSpPr>
          <p:cNvPr id="12" name="TextBox 11"/>
          <p:cNvSpPr txBox="1"/>
          <p:nvPr/>
        </p:nvSpPr>
        <p:spPr>
          <a:xfrm>
            <a:off x="685800" y="3063240"/>
            <a:ext cx="1463039" cy="274320"/>
          </a:xfrm>
          <a:prstGeom prst="rect">
            <a:avLst/>
          </a:prstGeom>
          <a:noFill/>
        </p:spPr>
        <p:txBody>
          <a:bodyPr wrap="square" lIns="0" rIns="0" tIns="0" bIns="0" anchor="t">
            <a:spAutoFit/>
          </a:bodyPr>
          <a:lstStyle/>
          <a:p>
            <a:pPr algn="l">
              <a:lnSpc>
                <a:spcPct val="110000"/>
              </a:lnSpc>
            </a:pPr>
            <a:r>
              <a:rPr sz="1100" b="0" i="0">
                <a:solidFill>
                  <a:srgbClr val="4D5864"/>
                </a:solidFill>
                <a:latin typeface="Segoe UI"/>
              </a:rPr>
              <a:t>commits</a:t>
            </a:r>
          </a:p>
        </p:txBody>
      </p:sp>
      <p:sp>
        <p:nvSpPr>
          <p:cNvPr id="13" name="Rounded Rectangle 12"/>
          <p:cNvSpPr/>
          <p:nvPr/>
        </p:nvSpPr>
        <p:spPr>
          <a:xfrm>
            <a:off x="2395728" y="1783080"/>
            <a:ext cx="173736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32888" y="1874519"/>
            <a:ext cx="1463039" cy="256032"/>
          </a:xfrm>
          <a:prstGeom prst="rect">
            <a:avLst/>
          </a:prstGeom>
          <a:noFill/>
        </p:spPr>
        <p:txBody>
          <a:bodyPr wrap="square" lIns="0" rIns="0" tIns="0" bIns="0" anchor="t">
            <a:spAutoFit/>
          </a:bodyPr>
          <a:lstStyle/>
          <a:p>
            <a:pPr algn="l">
              <a:lnSpc>
                <a:spcPct val="110000"/>
              </a:lnSpc>
            </a:pPr>
            <a:r>
              <a:rPr sz="1050" b="1" i="0">
                <a:solidFill>
                  <a:srgbClr val="4D5864"/>
                </a:solidFill>
                <a:latin typeface="Segoe UI"/>
              </a:rPr>
              <a:t>PHASE 2</a:t>
            </a:r>
          </a:p>
        </p:txBody>
      </p:sp>
      <p:sp>
        <p:nvSpPr>
          <p:cNvPr id="15" name="TextBox 14"/>
          <p:cNvSpPr txBox="1"/>
          <p:nvPr/>
        </p:nvSpPr>
        <p:spPr>
          <a:xfrm>
            <a:off x="2532888" y="2148840"/>
            <a:ext cx="1463039" cy="320040"/>
          </a:xfrm>
          <a:prstGeom prst="rect">
            <a:avLst/>
          </a:prstGeom>
          <a:noFill/>
        </p:spPr>
        <p:txBody>
          <a:bodyPr wrap="square" lIns="0" rIns="0" tIns="0" bIns="0" anchor="t">
            <a:spAutoFit/>
          </a:bodyPr>
          <a:lstStyle/>
          <a:p>
            <a:pPr algn="l">
              <a:lnSpc>
                <a:spcPct val="110000"/>
              </a:lnSpc>
            </a:pPr>
            <a:r>
              <a:rPr sz="1400" b="1" i="0">
                <a:solidFill>
                  <a:srgbClr val="14181D"/>
                </a:solidFill>
                <a:latin typeface="Segoe UI"/>
              </a:rPr>
              <a:t>develop_2</a:t>
            </a:r>
          </a:p>
        </p:txBody>
      </p:sp>
      <p:sp>
        <p:nvSpPr>
          <p:cNvPr id="16" name="TextBox 15"/>
          <p:cNvSpPr txBox="1"/>
          <p:nvPr/>
        </p:nvSpPr>
        <p:spPr>
          <a:xfrm>
            <a:off x="2532888" y="2560320"/>
            <a:ext cx="1463039" cy="548640"/>
          </a:xfrm>
          <a:prstGeom prst="rect">
            <a:avLst/>
          </a:prstGeom>
          <a:noFill/>
        </p:spPr>
        <p:txBody>
          <a:bodyPr wrap="square" lIns="0" rIns="0" tIns="0" bIns="0" anchor="t">
            <a:spAutoFit/>
          </a:bodyPr>
          <a:lstStyle/>
          <a:p>
            <a:pPr algn="l">
              <a:lnSpc>
                <a:spcPct val="110000"/>
              </a:lnSpc>
            </a:pPr>
            <a:r>
              <a:rPr sz="2800" b="1" i="0">
                <a:solidFill>
                  <a:srgbClr val="5B9CF0"/>
                </a:solidFill>
                <a:latin typeface="Segoe UI"/>
              </a:rPr>
              <a:t>16</a:t>
            </a:r>
          </a:p>
        </p:txBody>
      </p:sp>
      <p:sp>
        <p:nvSpPr>
          <p:cNvPr id="17" name="TextBox 16"/>
          <p:cNvSpPr txBox="1"/>
          <p:nvPr/>
        </p:nvSpPr>
        <p:spPr>
          <a:xfrm>
            <a:off x="2532888" y="3063240"/>
            <a:ext cx="1463039" cy="274320"/>
          </a:xfrm>
          <a:prstGeom prst="rect">
            <a:avLst/>
          </a:prstGeom>
          <a:noFill/>
        </p:spPr>
        <p:txBody>
          <a:bodyPr wrap="square" lIns="0" rIns="0" tIns="0" bIns="0" anchor="t">
            <a:spAutoFit/>
          </a:bodyPr>
          <a:lstStyle/>
          <a:p>
            <a:pPr algn="l">
              <a:lnSpc>
                <a:spcPct val="110000"/>
              </a:lnSpc>
            </a:pPr>
            <a:r>
              <a:rPr sz="1100" b="0" i="0">
                <a:solidFill>
                  <a:srgbClr val="4D5864"/>
                </a:solidFill>
                <a:latin typeface="Segoe UI"/>
              </a:rPr>
              <a:t>commits</a:t>
            </a:r>
          </a:p>
        </p:txBody>
      </p:sp>
      <p:sp>
        <p:nvSpPr>
          <p:cNvPr id="18" name="Rounded Rectangle 17"/>
          <p:cNvSpPr/>
          <p:nvPr/>
        </p:nvSpPr>
        <p:spPr>
          <a:xfrm>
            <a:off x="4242816" y="1783080"/>
            <a:ext cx="173736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9976" y="1874519"/>
            <a:ext cx="1463039" cy="256032"/>
          </a:xfrm>
          <a:prstGeom prst="rect">
            <a:avLst/>
          </a:prstGeom>
          <a:noFill/>
        </p:spPr>
        <p:txBody>
          <a:bodyPr wrap="square" lIns="0" rIns="0" tIns="0" bIns="0" anchor="t">
            <a:spAutoFit/>
          </a:bodyPr>
          <a:lstStyle/>
          <a:p>
            <a:pPr algn="l">
              <a:lnSpc>
                <a:spcPct val="110000"/>
              </a:lnSpc>
            </a:pPr>
            <a:r>
              <a:rPr sz="1050" b="1" i="0">
                <a:solidFill>
                  <a:srgbClr val="4D5864"/>
                </a:solidFill>
                <a:latin typeface="Segoe UI"/>
              </a:rPr>
              <a:t>PHASE 3</a:t>
            </a:r>
          </a:p>
        </p:txBody>
      </p:sp>
      <p:sp>
        <p:nvSpPr>
          <p:cNvPr id="20" name="TextBox 19"/>
          <p:cNvSpPr txBox="1"/>
          <p:nvPr/>
        </p:nvSpPr>
        <p:spPr>
          <a:xfrm>
            <a:off x="4379976" y="2148840"/>
            <a:ext cx="1463039" cy="320040"/>
          </a:xfrm>
          <a:prstGeom prst="rect">
            <a:avLst/>
          </a:prstGeom>
          <a:noFill/>
        </p:spPr>
        <p:txBody>
          <a:bodyPr wrap="square" lIns="0" rIns="0" tIns="0" bIns="0" anchor="t">
            <a:spAutoFit/>
          </a:bodyPr>
          <a:lstStyle/>
          <a:p>
            <a:pPr algn="l">
              <a:lnSpc>
                <a:spcPct val="110000"/>
              </a:lnSpc>
            </a:pPr>
            <a:r>
              <a:rPr sz="1400" b="1" i="0">
                <a:solidFill>
                  <a:srgbClr val="14181D"/>
                </a:solidFill>
                <a:latin typeface="Segoe UI"/>
              </a:rPr>
              <a:t>develop_3</a:t>
            </a:r>
          </a:p>
        </p:txBody>
      </p:sp>
      <p:sp>
        <p:nvSpPr>
          <p:cNvPr id="21" name="TextBox 20"/>
          <p:cNvSpPr txBox="1"/>
          <p:nvPr/>
        </p:nvSpPr>
        <p:spPr>
          <a:xfrm>
            <a:off x="4379976" y="2560320"/>
            <a:ext cx="1463039" cy="548640"/>
          </a:xfrm>
          <a:prstGeom prst="rect">
            <a:avLst/>
          </a:prstGeom>
          <a:noFill/>
        </p:spPr>
        <p:txBody>
          <a:bodyPr wrap="square" lIns="0" rIns="0" tIns="0" bIns="0" anchor="t">
            <a:spAutoFit/>
          </a:bodyPr>
          <a:lstStyle/>
          <a:p>
            <a:pPr algn="l">
              <a:lnSpc>
                <a:spcPct val="110000"/>
              </a:lnSpc>
            </a:pPr>
            <a:r>
              <a:rPr sz="2800" b="1" i="0">
                <a:solidFill>
                  <a:srgbClr val="5B9CF0"/>
                </a:solidFill>
                <a:latin typeface="Segoe UI"/>
              </a:rPr>
              <a:t>39</a:t>
            </a:r>
          </a:p>
        </p:txBody>
      </p:sp>
      <p:sp>
        <p:nvSpPr>
          <p:cNvPr id="22" name="TextBox 21"/>
          <p:cNvSpPr txBox="1"/>
          <p:nvPr/>
        </p:nvSpPr>
        <p:spPr>
          <a:xfrm>
            <a:off x="4379976" y="3063240"/>
            <a:ext cx="1463039" cy="274320"/>
          </a:xfrm>
          <a:prstGeom prst="rect">
            <a:avLst/>
          </a:prstGeom>
          <a:noFill/>
        </p:spPr>
        <p:txBody>
          <a:bodyPr wrap="square" lIns="0" rIns="0" tIns="0" bIns="0" anchor="t">
            <a:spAutoFit/>
          </a:bodyPr>
          <a:lstStyle/>
          <a:p>
            <a:pPr algn="l">
              <a:lnSpc>
                <a:spcPct val="110000"/>
              </a:lnSpc>
            </a:pPr>
            <a:r>
              <a:rPr sz="1100" b="0" i="0">
                <a:solidFill>
                  <a:srgbClr val="4D5864"/>
                </a:solidFill>
                <a:latin typeface="Segoe UI"/>
              </a:rPr>
              <a:t>commits</a:t>
            </a:r>
          </a:p>
        </p:txBody>
      </p:sp>
      <p:sp>
        <p:nvSpPr>
          <p:cNvPr id="23" name="Rounded Rectangle 22"/>
          <p:cNvSpPr/>
          <p:nvPr/>
        </p:nvSpPr>
        <p:spPr>
          <a:xfrm>
            <a:off x="6089904" y="1783080"/>
            <a:ext cx="173736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7064" y="1874519"/>
            <a:ext cx="1463039" cy="256032"/>
          </a:xfrm>
          <a:prstGeom prst="rect">
            <a:avLst/>
          </a:prstGeom>
          <a:noFill/>
        </p:spPr>
        <p:txBody>
          <a:bodyPr wrap="square" lIns="0" rIns="0" tIns="0" bIns="0" anchor="t">
            <a:spAutoFit/>
          </a:bodyPr>
          <a:lstStyle/>
          <a:p>
            <a:pPr algn="l">
              <a:lnSpc>
                <a:spcPct val="110000"/>
              </a:lnSpc>
            </a:pPr>
            <a:r>
              <a:rPr sz="1050" b="1" i="0">
                <a:solidFill>
                  <a:srgbClr val="4D5864"/>
                </a:solidFill>
                <a:latin typeface="Segoe UI"/>
              </a:rPr>
              <a:t>PHASE 4</a:t>
            </a:r>
          </a:p>
        </p:txBody>
      </p:sp>
      <p:sp>
        <p:nvSpPr>
          <p:cNvPr id="25" name="TextBox 24"/>
          <p:cNvSpPr txBox="1"/>
          <p:nvPr/>
        </p:nvSpPr>
        <p:spPr>
          <a:xfrm>
            <a:off x="6227064" y="2148840"/>
            <a:ext cx="1463039" cy="320040"/>
          </a:xfrm>
          <a:prstGeom prst="rect">
            <a:avLst/>
          </a:prstGeom>
          <a:noFill/>
        </p:spPr>
        <p:txBody>
          <a:bodyPr wrap="square" lIns="0" rIns="0" tIns="0" bIns="0" anchor="t">
            <a:spAutoFit/>
          </a:bodyPr>
          <a:lstStyle/>
          <a:p>
            <a:pPr algn="l">
              <a:lnSpc>
                <a:spcPct val="110000"/>
              </a:lnSpc>
            </a:pPr>
            <a:r>
              <a:rPr sz="1400" b="1" i="0">
                <a:solidFill>
                  <a:srgbClr val="14181D"/>
                </a:solidFill>
                <a:latin typeface="Segoe UI"/>
              </a:rPr>
              <a:t>develop_4</a:t>
            </a:r>
          </a:p>
        </p:txBody>
      </p:sp>
      <p:sp>
        <p:nvSpPr>
          <p:cNvPr id="26" name="TextBox 25"/>
          <p:cNvSpPr txBox="1"/>
          <p:nvPr/>
        </p:nvSpPr>
        <p:spPr>
          <a:xfrm>
            <a:off x="6227064" y="2560320"/>
            <a:ext cx="1463039" cy="548640"/>
          </a:xfrm>
          <a:prstGeom prst="rect">
            <a:avLst/>
          </a:prstGeom>
          <a:noFill/>
        </p:spPr>
        <p:txBody>
          <a:bodyPr wrap="square" lIns="0" rIns="0" tIns="0" bIns="0" anchor="t">
            <a:spAutoFit/>
          </a:bodyPr>
          <a:lstStyle/>
          <a:p>
            <a:pPr algn="l">
              <a:lnSpc>
                <a:spcPct val="110000"/>
              </a:lnSpc>
            </a:pPr>
            <a:r>
              <a:rPr sz="2800" b="1" i="0">
                <a:solidFill>
                  <a:srgbClr val="5B9CF0"/>
                </a:solidFill>
                <a:latin typeface="Segoe UI"/>
              </a:rPr>
              <a:t>48</a:t>
            </a:r>
          </a:p>
        </p:txBody>
      </p:sp>
      <p:sp>
        <p:nvSpPr>
          <p:cNvPr id="27" name="TextBox 26"/>
          <p:cNvSpPr txBox="1"/>
          <p:nvPr/>
        </p:nvSpPr>
        <p:spPr>
          <a:xfrm>
            <a:off x="6227064" y="3063240"/>
            <a:ext cx="1463039" cy="274320"/>
          </a:xfrm>
          <a:prstGeom prst="rect">
            <a:avLst/>
          </a:prstGeom>
          <a:noFill/>
        </p:spPr>
        <p:txBody>
          <a:bodyPr wrap="square" lIns="0" rIns="0" tIns="0" bIns="0" anchor="t">
            <a:spAutoFit/>
          </a:bodyPr>
          <a:lstStyle/>
          <a:p>
            <a:pPr algn="l">
              <a:lnSpc>
                <a:spcPct val="110000"/>
              </a:lnSpc>
            </a:pPr>
            <a:r>
              <a:rPr sz="1100" b="0" i="0">
                <a:solidFill>
                  <a:srgbClr val="4D5864"/>
                </a:solidFill>
                <a:latin typeface="Segoe UI"/>
              </a:rPr>
              <a:t>commits</a:t>
            </a:r>
          </a:p>
        </p:txBody>
      </p:sp>
      <p:sp>
        <p:nvSpPr>
          <p:cNvPr id="28" name="Rounded Rectangle 27"/>
          <p:cNvSpPr/>
          <p:nvPr/>
        </p:nvSpPr>
        <p:spPr>
          <a:xfrm>
            <a:off x="7936992" y="1783080"/>
            <a:ext cx="173736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74152" y="1874519"/>
            <a:ext cx="1463039" cy="256032"/>
          </a:xfrm>
          <a:prstGeom prst="rect">
            <a:avLst/>
          </a:prstGeom>
          <a:noFill/>
        </p:spPr>
        <p:txBody>
          <a:bodyPr wrap="square" lIns="0" rIns="0" tIns="0" bIns="0" anchor="t">
            <a:spAutoFit/>
          </a:bodyPr>
          <a:lstStyle/>
          <a:p>
            <a:pPr algn="l">
              <a:lnSpc>
                <a:spcPct val="110000"/>
              </a:lnSpc>
            </a:pPr>
            <a:r>
              <a:rPr sz="1050" b="1" i="0">
                <a:solidFill>
                  <a:srgbClr val="4D5864"/>
                </a:solidFill>
                <a:latin typeface="Segoe UI"/>
              </a:rPr>
              <a:t>PHASE 5</a:t>
            </a:r>
          </a:p>
        </p:txBody>
      </p:sp>
      <p:sp>
        <p:nvSpPr>
          <p:cNvPr id="30" name="TextBox 29"/>
          <p:cNvSpPr txBox="1"/>
          <p:nvPr/>
        </p:nvSpPr>
        <p:spPr>
          <a:xfrm>
            <a:off x="8074152" y="2148840"/>
            <a:ext cx="1463039" cy="320040"/>
          </a:xfrm>
          <a:prstGeom prst="rect">
            <a:avLst/>
          </a:prstGeom>
          <a:noFill/>
        </p:spPr>
        <p:txBody>
          <a:bodyPr wrap="square" lIns="0" rIns="0" tIns="0" bIns="0" anchor="t">
            <a:spAutoFit/>
          </a:bodyPr>
          <a:lstStyle/>
          <a:p>
            <a:pPr algn="l">
              <a:lnSpc>
                <a:spcPct val="110000"/>
              </a:lnSpc>
            </a:pPr>
            <a:r>
              <a:rPr sz="1400" b="1" i="0">
                <a:solidFill>
                  <a:srgbClr val="14181D"/>
                </a:solidFill>
                <a:latin typeface="Segoe UI"/>
              </a:rPr>
              <a:t>develop_5</a:t>
            </a:r>
          </a:p>
        </p:txBody>
      </p:sp>
      <p:sp>
        <p:nvSpPr>
          <p:cNvPr id="31" name="TextBox 30"/>
          <p:cNvSpPr txBox="1"/>
          <p:nvPr/>
        </p:nvSpPr>
        <p:spPr>
          <a:xfrm>
            <a:off x="8074152" y="2560320"/>
            <a:ext cx="1463039" cy="548640"/>
          </a:xfrm>
          <a:prstGeom prst="rect">
            <a:avLst/>
          </a:prstGeom>
          <a:noFill/>
        </p:spPr>
        <p:txBody>
          <a:bodyPr wrap="square" lIns="0" rIns="0" tIns="0" bIns="0" anchor="t">
            <a:spAutoFit/>
          </a:bodyPr>
          <a:lstStyle/>
          <a:p>
            <a:pPr algn="l">
              <a:lnSpc>
                <a:spcPct val="110000"/>
              </a:lnSpc>
            </a:pPr>
            <a:r>
              <a:rPr sz="2800" b="1" i="0">
                <a:solidFill>
                  <a:srgbClr val="5B9CF0"/>
                </a:solidFill>
                <a:latin typeface="Segoe UI"/>
              </a:rPr>
              <a:t>56</a:t>
            </a:r>
          </a:p>
        </p:txBody>
      </p:sp>
      <p:sp>
        <p:nvSpPr>
          <p:cNvPr id="32" name="TextBox 31"/>
          <p:cNvSpPr txBox="1"/>
          <p:nvPr/>
        </p:nvSpPr>
        <p:spPr>
          <a:xfrm>
            <a:off x="8074152" y="3063240"/>
            <a:ext cx="1463039" cy="274320"/>
          </a:xfrm>
          <a:prstGeom prst="rect">
            <a:avLst/>
          </a:prstGeom>
          <a:noFill/>
        </p:spPr>
        <p:txBody>
          <a:bodyPr wrap="square" lIns="0" rIns="0" tIns="0" bIns="0" anchor="t">
            <a:spAutoFit/>
          </a:bodyPr>
          <a:lstStyle/>
          <a:p>
            <a:pPr algn="l">
              <a:lnSpc>
                <a:spcPct val="110000"/>
              </a:lnSpc>
            </a:pPr>
            <a:r>
              <a:rPr sz="1100" b="0" i="0">
                <a:solidFill>
                  <a:srgbClr val="4D5864"/>
                </a:solidFill>
                <a:latin typeface="Segoe UI"/>
              </a:rPr>
              <a:t>commits</a:t>
            </a:r>
          </a:p>
        </p:txBody>
      </p:sp>
      <p:sp>
        <p:nvSpPr>
          <p:cNvPr id="33" name="Rounded Rectangle 32"/>
          <p:cNvSpPr/>
          <p:nvPr/>
        </p:nvSpPr>
        <p:spPr>
          <a:xfrm>
            <a:off x="9784080" y="1783080"/>
            <a:ext cx="173736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21240" y="1874519"/>
            <a:ext cx="1463039" cy="256032"/>
          </a:xfrm>
          <a:prstGeom prst="rect">
            <a:avLst/>
          </a:prstGeom>
          <a:noFill/>
        </p:spPr>
        <p:txBody>
          <a:bodyPr wrap="square" lIns="0" rIns="0" tIns="0" bIns="0" anchor="t">
            <a:spAutoFit/>
          </a:bodyPr>
          <a:lstStyle/>
          <a:p>
            <a:pPr algn="l">
              <a:lnSpc>
                <a:spcPct val="110000"/>
              </a:lnSpc>
            </a:pPr>
            <a:r>
              <a:rPr sz="1050" b="1" i="0">
                <a:solidFill>
                  <a:srgbClr val="4D5864"/>
                </a:solidFill>
                <a:latin typeface="Segoe UI"/>
              </a:rPr>
              <a:t>FINAL</a:t>
            </a:r>
          </a:p>
        </p:txBody>
      </p:sp>
      <p:sp>
        <p:nvSpPr>
          <p:cNvPr id="35" name="TextBox 34"/>
          <p:cNvSpPr txBox="1"/>
          <p:nvPr/>
        </p:nvSpPr>
        <p:spPr>
          <a:xfrm>
            <a:off x="9921240" y="2148840"/>
            <a:ext cx="1463039" cy="320040"/>
          </a:xfrm>
          <a:prstGeom prst="rect">
            <a:avLst/>
          </a:prstGeom>
          <a:noFill/>
        </p:spPr>
        <p:txBody>
          <a:bodyPr wrap="square" lIns="0" rIns="0" tIns="0" bIns="0" anchor="t">
            <a:spAutoFit/>
          </a:bodyPr>
          <a:lstStyle/>
          <a:p>
            <a:pPr algn="l">
              <a:lnSpc>
                <a:spcPct val="110000"/>
              </a:lnSpc>
            </a:pPr>
            <a:r>
              <a:rPr sz="1400" b="1" i="0">
                <a:solidFill>
                  <a:srgbClr val="14181D"/>
                </a:solidFill>
                <a:latin typeface="Segoe UI"/>
              </a:rPr>
              <a:t>develop_6</a:t>
            </a:r>
          </a:p>
        </p:txBody>
      </p:sp>
      <p:sp>
        <p:nvSpPr>
          <p:cNvPr id="36" name="TextBox 35"/>
          <p:cNvSpPr txBox="1"/>
          <p:nvPr/>
        </p:nvSpPr>
        <p:spPr>
          <a:xfrm>
            <a:off x="9921240" y="2560320"/>
            <a:ext cx="1463039" cy="548640"/>
          </a:xfrm>
          <a:prstGeom prst="rect">
            <a:avLst/>
          </a:prstGeom>
          <a:noFill/>
        </p:spPr>
        <p:txBody>
          <a:bodyPr wrap="square" lIns="0" rIns="0" tIns="0" bIns="0" anchor="t">
            <a:spAutoFit/>
          </a:bodyPr>
          <a:lstStyle/>
          <a:p>
            <a:pPr algn="l">
              <a:lnSpc>
                <a:spcPct val="110000"/>
              </a:lnSpc>
            </a:pPr>
            <a:r>
              <a:rPr sz="2800" b="1" i="0">
                <a:solidFill>
                  <a:srgbClr val="5B9CF0"/>
                </a:solidFill>
                <a:latin typeface="Segoe UI"/>
              </a:rPr>
              <a:t>84</a:t>
            </a:r>
          </a:p>
        </p:txBody>
      </p:sp>
      <p:sp>
        <p:nvSpPr>
          <p:cNvPr id="37" name="TextBox 36"/>
          <p:cNvSpPr txBox="1"/>
          <p:nvPr/>
        </p:nvSpPr>
        <p:spPr>
          <a:xfrm>
            <a:off x="9921240" y="3063240"/>
            <a:ext cx="1463039" cy="274320"/>
          </a:xfrm>
          <a:prstGeom prst="rect">
            <a:avLst/>
          </a:prstGeom>
          <a:noFill/>
        </p:spPr>
        <p:txBody>
          <a:bodyPr wrap="square" lIns="0" rIns="0" tIns="0" bIns="0" anchor="t">
            <a:spAutoFit/>
          </a:bodyPr>
          <a:lstStyle/>
          <a:p>
            <a:pPr algn="l">
              <a:lnSpc>
                <a:spcPct val="110000"/>
              </a:lnSpc>
            </a:pPr>
            <a:r>
              <a:rPr sz="1100" b="0" i="0">
                <a:solidFill>
                  <a:srgbClr val="4D5864"/>
                </a:solidFill>
                <a:latin typeface="Segoe UI"/>
              </a:rPr>
              <a:t>commits</a:t>
            </a:r>
          </a:p>
        </p:txBody>
      </p:sp>
      <p:sp>
        <p:nvSpPr>
          <p:cNvPr id="38" name="TextBox 37"/>
          <p:cNvSpPr txBox="1"/>
          <p:nvPr/>
        </p:nvSpPr>
        <p:spPr>
          <a:xfrm>
            <a:off x="548640" y="3520440"/>
            <a:ext cx="10972800" cy="274320"/>
          </a:xfrm>
          <a:prstGeom prst="rect">
            <a:avLst/>
          </a:prstGeom>
          <a:noFill/>
        </p:spPr>
        <p:txBody>
          <a:bodyPr wrap="square" lIns="0" rIns="0" tIns="0" bIns="0" anchor="t">
            <a:spAutoFit/>
          </a:bodyPr>
          <a:lstStyle/>
          <a:p>
            <a:pPr algn="l">
              <a:lnSpc>
                <a:spcPct val="110000"/>
              </a:lnSpc>
            </a:pPr>
            <a:r>
              <a:rPr sz="1200" b="0" i="0">
                <a:solidFill>
                  <a:srgbClr val="4D5864"/>
                </a:solidFill>
                <a:latin typeface="Segoe UI"/>
              </a:rPr>
              <a:t>Cumulative commit count on each branch, read from git. main holds one README commit and is reserved for tagged releases.</a:t>
            </a:r>
          </a:p>
        </p:txBody>
      </p:sp>
      <p:sp>
        <p:nvSpPr>
          <p:cNvPr id="39" name="Rounded Rectangle 38"/>
          <p:cNvSpPr/>
          <p:nvPr/>
        </p:nvSpPr>
        <p:spPr>
          <a:xfrm>
            <a:off x="548640" y="4069080"/>
            <a:ext cx="5440680" cy="20116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233672"/>
            <a:ext cx="4983480"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Conventional Commits</a:t>
            </a:r>
          </a:p>
        </p:txBody>
      </p:sp>
      <p:sp>
        <p:nvSpPr>
          <p:cNvPr id="41" name="TextBox 40"/>
          <p:cNvSpPr txBox="1"/>
          <p:nvPr/>
        </p:nvSpPr>
        <p:spPr>
          <a:xfrm>
            <a:off x="777240" y="4636008"/>
            <a:ext cx="4983480" cy="1325880"/>
          </a:xfrm>
          <a:prstGeom prst="rect">
            <a:avLst/>
          </a:prstGeom>
          <a:noFill/>
        </p:spPr>
        <p:txBody>
          <a:bodyPr wrap="square" lIns="0" rIns="0" tIns="0" bIns="0" anchor="t">
            <a:spAutoFit/>
          </a:bodyPr>
          <a:lstStyle/>
          <a:p>
            <a:pPr algn="l">
              <a:lnSpc>
                <a:spcPct val="115000"/>
              </a:lnSpc>
            </a:pPr>
            <a:r>
              <a:rPr sz="1500" b="0" i="0">
                <a:solidFill>
                  <a:srgbClr val="4D5864"/>
                </a:solidFill>
                <a:latin typeface="Segoe UI"/>
              </a:rPr>
              <a:t>78 of 84 commits (93%) follow type(scope): description. The 6 that do not are five early commits from Phases 1 and 2 and one merge commit.</a:t>
            </a:r>
          </a:p>
        </p:txBody>
      </p:sp>
      <p:sp>
        <p:nvSpPr>
          <p:cNvPr id="42" name="Rounded Rectangle 41"/>
          <p:cNvSpPr/>
          <p:nvPr/>
        </p:nvSpPr>
        <p:spPr>
          <a:xfrm>
            <a:off x="6199632" y="4069080"/>
            <a:ext cx="5440680" cy="20116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28232" y="4233672"/>
            <a:ext cx="4983480"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Three contributors</a:t>
            </a:r>
          </a:p>
        </p:txBody>
      </p:sp>
      <p:sp>
        <p:nvSpPr>
          <p:cNvPr id="44" name="TextBox 43"/>
          <p:cNvSpPr txBox="1"/>
          <p:nvPr/>
        </p:nvSpPr>
        <p:spPr>
          <a:xfrm>
            <a:off x="6428232" y="4636008"/>
            <a:ext cx="4983480" cy="1325880"/>
          </a:xfrm>
          <a:prstGeom prst="rect">
            <a:avLst/>
          </a:prstGeom>
          <a:noFill/>
        </p:spPr>
        <p:txBody>
          <a:bodyPr wrap="square" lIns="0" rIns="0" tIns="0" bIns="0" anchor="t">
            <a:spAutoFit/>
          </a:bodyPr>
          <a:lstStyle/>
          <a:p>
            <a:pPr algn="l">
              <a:lnSpc>
                <a:spcPct val="115000"/>
              </a:lnSpc>
            </a:pPr>
            <a:r>
              <a:rPr sz="1500" b="0" i="0">
                <a:solidFill>
                  <a:srgbClr val="4D5864"/>
                </a:solidFill>
                <a:latin typeface="Segoe UI"/>
              </a:rPr>
              <a:t>Commits by member: Twissha 31   Miti 31   Tanvi 22. Commit messages carry the type (feat, fix, test, docs, chore) so the history can be read as a changelog.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IV  ·  P1 INTEGRATION</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One app: the device screen</a:t>
            </a:r>
          </a:p>
        </p:txBody>
      </p:sp>
      <p:sp>
        <p:nvSpPr>
          <p:cNvPr id="4" name="TextBox 3"/>
          <p:cNvSpPr txBox="1"/>
          <p:nvPr/>
        </p:nvSpPr>
        <p:spPr>
          <a:xfrm>
            <a:off x="548640" y="1261872"/>
            <a:ext cx="11064240" cy="365760"/>
          </a:xfrm>
          <a:prstGeom prst="rect">
            <a:avLst/>
          </a:prstGeom>
          <a:noFill/>
        </p:spPr>
        <p:txBody>
          <a:bodyPr wrap="square" lIns="0" rIns="0" tIns="0" bIns="0" anchor="t">
            <a:spAutoFit/>
          </a:bodyPr>
          <a:lstStyle/>
          <a:p>
            <a:pPr algn="l">
              <a:lnSpc>
                <a:spcPct val="110000"/>
              </a:lnSpc>
            </a:pPr>
            <a:r>
              <a:rPr sz="1500" b="0" i="0">
                <a:solidFill>
                  <a:srgbClr val="4D5864"/>
                </a:solidFill>
                <a:latin typeface="Segoe UI"/>
              </a:rPr>
              <a:t>Served by each device. Its role decides what it shows.</a:t>
            </a:r>
          </a:p>
        </p:txBody>
      </p:sp>
      <p:cxnSp>
        <p:nvCxnSpPr>
          <p:cNvPr id="5" name="Connector 4"/>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7" name="TextBox 6"/>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7 / 14</a:t>
            </a:r>
          </a:p>
        </p:txBody>
      </p:sp>
      <p:pic>
        <p:nvPicPr>
          <p:cNvPr id="8" name="Picture 7" descr="story_survivor_delivered.png"/>
          <p:cNvPicPr>
            <a:picLocks noChangeAspect="1"/>
          </p:cNvPicPr>
          <p:nvPr/>
        </p:nvPicPr>
        <p:blipFill>
          <a:blip r:embed="rId2"/>
          <a:stretch>
            <a:fillRect/>
          </a:stretch>
        </p:blipFill>
        <p:spPr>
          <a:xfrm>
            <a:off x="858129" y="1783080"/>
            <a:ext cx="1529861" cy="3977639"/>
          </a:xfrm>
          <a:prstGeom prst="rect">
            <a:avLst/>
          </a:prstGeom>
          <a:ln w="9525">
            <a:solidFill>
              <a:srgbClr val="D5DBE2"/>
            </a:solidFill>
          </a:ln>
        </p:spPr>
      </p:pic>
      <p:pic>
        <p:nvPicPr>
          <p:cNvPr id="9" name="Picture 8" descr="story_rescue_console.png"/>
          <p:cNvPicPr>
            <a:picLocks noChangeAspect="1"/>
          </p:cNvPicPr>
          <p:nvPr/>
        </p:nvPicPr>
        <p:blipFill>
          <a:blip r:embed="rId3"/>
          <a:stretch>
            <a:fillRect/>
          </a:stretch>
        </p:blipFill>
        <p:spPr>
          <a:xfrm>
            <a:off x="2971800" y="1983105"/>
            <a:ext cx="5486400" cy="3257550"/>
          </a:xfrm>
          <a:prstGeom prst="rect">
            <a:avLst/>
          </a:prstGeom>
          <a:ln w="9525">
            <a:solidFill>
              <a:srgbClr val="D5DBE2"/>
            </a:solidFill>
          </a:ln>
        </p:spPr>
      </p:pic>
      <p:sp>
        <p:nvSpPr>
          <p:cNvPr id="10" name="TextBox 9"/>
          <p:cNvSpPr txBox="1"/>
          <p:nvPr/>
        </p:nvSpPr>
        <p:spPr>
          <a:xfrm>
            <a:off x="548640" y="5897880"/>
            <a:ext cx="2194560" cy="274320"/>
          </a:xfrm>
          <a:prstGeom prst="rect">
            <a:avLst/>
          </a:prstGeom>
          <a:noFill/>
        </p:spPr>
        <p:txBody>
          <a:bodyPr wrap="square" lIns="0" rIns="0" tIns="0" bIns="0" anchor="t">
            <a:spAutoFit/>
          </a:bodyPr>
          <a:lstStyle/>
          <a:p>
            <a:pPr algn="l">
              <a:lnSpc>
                <a:spcPct val="110000"/>
              </a:lnSpc>
            </a:pPr>
            <a:r>
              <a:rPr sz="1150" b="1" i="0">
                <a:solidFill>
                  <a:srgbClr val="4D5864"/>
                </a:solidFill>
                <a:latin typeface="Segoe UI"/>
              </a:rPr>
              <a:t>Survivor phone</a:t>
            </a:r>
          </a:p>
        </p:txBody>
      </p:sp>
      <p:sp>
        <p:nvSpPr>
          <p:cNvPr id="11" name="TextBox 10"/>
          <p:cNvSpPr txBox="1"/>
          <p:nvPr/>
        </p:nvSpPr>
        <p:spPr>
          <a:xfrm>
            <a:off x="2971800" y="5486400"/>
            <a:ext cx="5486400" cy="274320"/>
          </a:xfrm>
          <a:prstGeom prst="rect">
            <a:avLst/>
          </a:prstGeom>
          <a:noFill/>
        </p:spPr>
        <p:txBody>
          <a:bodyPr wrap="square" lIns="0" rIns="0" tIns="0" bIns="0" anchor="t">
            <a:spAutoFit/>
          </a:bodyPr>
          <a:lstStyle/>
          <a:p>
            <a:pPr algn="l">
              <a:lnSpc>
                <a:spcPct val="110000"/>
              </a:lnSpc>
            </a:pPr>
            <a:r>
              <a:rPr sz="1150" b="1" i="0">
                <a:solidFill>
                  <a:srgbClr val="4D5864"/>
                </a:solidFill>
                <a:latin typeface="Segoe UI"/>
              </a:rPr>
              <a:t>Rescue console</a:t>
            </a:r>
          </a:p>
        </p:txBody>
      </p:sp>
      <p:sp>
        <p:nvSpPr>
          <p:cNvPr id="12" name="TextBox 11"/>
          <p:cNvSpPr txBox="1"/>
          <p:nvPr/>
        </p:nvSpPr>
        <p:spPr>
          <a:xfrm>
            <a:off x="8732520" y="1783080"/>
            <a:ext cx="2926080" cy="4480560"/>
          </a:xfrm>
          <a:prstGeom prst="rect">
            <a:avLst/>
          </a:prstGeom>
          <a:noFill/>
        </p:spPr>
        <p:txBody>
          <a:bodyPr wrap="square" lIns="0" rIns="0" tIns="0" bIns="0">
            <a:spAutoFit/>
          </a:bodyPr>
          <a:lstStyle/>
          <a:p>
            <a:pPr marL="201168" indent="-201168">
              <a:lnSpc>
                <a:spcPct val="108000"/>
              </a:lnSpc>
              <a:spcAft>
                <a:spcPts val="900"/>
              </a:spcAft>
              <a:buChar char="•"/>
            </a:pPr>
            <a:r>
              <a:rPr sz="1300" b="1">
                <a:solidFill>
                  <a:srgbClr val="14181D"/>
                </a:solidFill>
                <a:latin typeface="Segoe UI"/>
              </a:rPr>
              <a:t>Survivor: </a:t>
            </a:r>
            <a:r>
              <a:rPr sz="1300" b="0">
                <a:solidFill>
                  <a:srgbClr val="14181D"/>
                </a:solidFill>
                <a:latin typeface="Segoe UI"/>
              </a:rPr>
              <a:t>hold to send SOS with need and location, I am safe, send a message, see the rescue team's reply.</a:t>
            </a:r>
          </a:p>
          <a:p>
            <a:pPr marL="201168" indent="-201168">
              <a:lnSpc>
                <a:spcPct val="108000"/>
              </a:lnSpc>
              <a:spcAft>
                <a:spcPts val="900"/>
              </a:spcAft>
              <a:buChar char="•"/>
            </a:pPr>
            <a:r>
              <a:rPr sz="1300" b="1">
                <a:solidFill>
                  <a:srgbClr val="14181D"/>
                </a:solidFill>
                <a:latin typeface="Segoe UI"/>
              </a:rPr>
              <a:t>Gateway: </a:t>
            </a:r>
            <a:r>
              <a:rPr sz="1300" b="0">
                <a:solidFill>
                  <a:srgbClr val="14181D"/>
                </a:solidFill>
                <a:latin typeface="Segoe UI"/>
              </a:rPr>
              <a:t>messages passed on, live activity.</a:t>
            </a:r>
          </a:p>
          <a:p>
            <a:pPr marL="201168" indent="-201168">
              <a:lnSpc>
                <a:spcPct val="108000"/>
              </a:lnSpc>
              <a:spcAft>
                <a:spcPts val="900"/>
              </a:spcAft>
              <a:buChar char="•"/>
            </a:pPr>
            <a:r>
              <a:rPr sz="1300" b="1">
                <a:solidFill>
                  <a:srgbClr val="14181D"/>
                </a:solidFill>
                <a:latin typeface="Segoe UI"/>
              </a:rPr>
              <a:t>Rescue console: </a:t>
            </a:r>
            <a:r>
              <a:rPr sz="1300" b="0">
                <a:solidFill>
                  <a:srgbClr val="14181D"/>
                </a:solidFill>
                <a:latin typeface="Segoe UI"/>
              </a:rPr>
              <a:t>requests with route, reply, filters, history, CSV export, network map.</a:t>
            </a:r>
          </a:p>
          <a:p>
            <a:pPr marL="201168" indent="-201168">
              <a:lnSpc>
                <a:spcPct val="108000"/>
              </a:lnSpc>
              <a:spcAft>
                <a:spcPts val="900"/>
              </a:spcAft>
              <a:buChar char="•"/>
            </a:pPr>
            <a:r>
              <a:rPr sz="1300" b="1">
                <a:solidFill>
                  <a:srgbClr val="14181D"/>
                </a:solidFill>
                <a:latin typeface="Segoe UI"/>
              </a:rPr>
              <a:t>A phone is only a screen. </a:t>
            </a:r>
            <a:r>
              <a:rPr sz="1300" b="0">
                <a:solidFill>
                  <a:srgbClr val="14181D"/>
                </a:solidFill>
                <a:latin typeface="Segoe UI"/>
              </a:rPr>
              <a:t>The engine runs on the laptop.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IV  ·  P1 INTEGRATION</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Integration found real defects</a:t>
            </a:r>
          </a:p>
        </p:txBody>
      </p:sp>
      <p:sp>
        <p:nvSpPr>
          <p:cNvPr id="4" name="TextBox 3"/>
          <p:cNvSpPr txBox="1"/>
          <p:nvPr/>
        </p:nvSpPr>
        <p:spPr>
          <a:xfrm>
            <a:off x="548640" y="1261872"/>
            <a:ext cx="11064240" cy="365760"/>
          </a:xfrm>
          <a:prstGeom prst="rect">
            <a:avLst/>
          </a:prstGeom>
          <a:noFill/>
        </p:spPr>
        <p:txBody>
          <a:bodyPr wrap="square" lIns="0" rIns="0" tIns="0" bIns="0" anchor="t">
            <a:spAutoFit/>
          </a:bodyPr>
          <a:lstStyle/>
          <a:p>
            <a:pPr algn="l">
              <a:lnSpc>
                <a:spcPct val="110000"/>
              </a:lnSpc>
            </a:pPr>
            <a:r>
              <a:rPr sz="1500" b="0" i="0">
                <a:solidFill>
                  <a:srgbClr val="4D5864"/>
                </a:solidFill>
                <a:latin typeface="Segoe UI"/>
              </a:rPr>
              <a:t>Seven defects in the engine and tests. Six are closed with a regression test; one is open.</a:t>
            </a:r>
          </a:p>
        </p:txBody>
      </p:sp>
      <p:cxnSp>
        <p:nvCxnSpPr>
          <p:cNvPr id="5" name="Connector 4"/>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7" name="TextBox 6"/>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8 / 14</a:t>
            </a:r>
          </a:p>
        </p:txBody>
      </p:sp>
      <p:graphicFrame>
        <p:nvGraphicFramePr>
          <p:cNvPr id="8" name="Table 7"/>
          <p:cNvGraphicFramePr>
            <a:graphicFrameLocks noGrp="1"/>
          </p:cNvGraphicFramePr>
          <p:nvPr/>
        </p:nvGraphicFramePr>
        <p:xfrm>
          <a:off x="548640" y="1783080"/>
          <a:ext cx="11091670" cy="4242816"/>
        </p:xfrm>
        <a:graphic>
          <a:graphicData uri="http://schemas.openxmlformats.org/drawingml/2006/table">
            <a:tbl>
              <a:tblPr firstRow="0" bandRow="0">
                <a:tableStyleId>{5C22544A-7EE6-4342-B048-85BDC9FD1C3A}</a:tableStyleId>
              </a:tblPr>
              <a:tblGrid>
                <a:gridCol w="547736"/>
                <a:gridCol w="5751237"/>
                <a:gridCol w="3925447"/>
                <a:gridCol w="867250"/>
              </a:tblGrid>
              <a:tr h="530352">
                <a:tc>
                  <a:txBody>
                    <a:bodyPr wrap="square"/>
                    <a:lstStyle/>
                    <a:p>
                      <a:r>
                        <a:rPr sz="1200" b="1">
                          <a:solidFill>
                            <a:srgbClr val="EEF1F4"/>
                          </a:solidFill>
                          <a:latin typeface="Segoe UI"/>
                        </a:rPr>
                        <a:t>ID</a:t>
                      </a:r>
                    </a:p>
                  </a:txBody>
                  <a:tcPr marL="91440" marR="91440" marT="36576" marB="36576" anchor="ctr">
                    <a:solidFill>
                      <a:srgbClr val="161A1F"/>
                    </a:solidFill>
                  </a:tcPr>
                </a:tc>
                <a:tc>
                  <a:txBody>
                    <a:bodyPr wrap="square"/>
                    <a:lstStyle/>
                    <a:p>
                      <a:r>
                        <a:rPr sz="1200" b="1">
                          <a:solidFill>
                            <a:srgbClr val="EEF1F4"/>
                          </a:solidFill>
                          <a:latin typeface="Segoe UI"/>
                        </a:rPr>
                        <a:t>DEFECT</a:t>
                      </a:r>
                    </a:p>
                  </a:txBody>
                  <a:tcPr marL="91440" marR="91440" marT="36576" marB="36576" anchor="ctr">
                    <a:solidFill>
                      <a:srgbClr val="161A1F"/>
                    </a:solidFill>
                  </a:tcPr>
                </a:tc>
                <a:tc>
                  <a:txBody>
                    <a:bodyPr wrap="square"/>
                    <a:lstStyle/>
                    <a:p>
                      <a:r>
                        <a:rPr sz="1200" b="1">
                          <a:solidFill>
                            <a:srgbClr val="EEF1F4"/>
                          </a:solidFill>
                          <a:latin typeface="Segoe UI"/>
                        </a:rPr>
                        <a:t>FIX</a:t>
                      </a:r>
                    </a:p>
                  </a:txBody>
                  <a:tcPr marL="91440" marR="91440" marT="36576" marB="36576" anchor="ctr">
                    <a:solidFill>
                      <a:srgbClr val="161A1F"/>
                    </a:solidFill>
                  </a:tcPr>
                </a:tc>
                <a:tc>
                  <a:txBody>
                    <a:bodyPr wrap="square"/>
                    <a:lstStyle/>
                    <a:p>
                      <a:r>
                        <a:rPr sz="1200" b="1">
                          <a:solidFill>
                            <a:srgbClr val="EEF1F4"/>
                          </a:solidFill>
                          <a:latin typeface="Segoe UI"/>
                        </a:rPr>
                        <a:t>STATUS</a:t>
                      </a:r>
                    </a:p>
                  </a:txBody>
                  <a:tcPr marL="91440" marR="91440" marT="36576" marB="36576" anchor="ctr">
                    <a:solidFill>
                      <a:srgbClr val="161A1F"/>
                    </a:solidFill>
                  </a:tcPr>
                </a:tc>
              </a:tr>
              <a:tr h="530352">
                <a:tc>
                  <a:txBody>
                    <a:bodyPr wrap="square"/>
                    <a:lstStyle/>
                    <a:p>
                      <a:r>
                        <a:rPr sz="1250" b="1">
                          <a:solidFill>
                            <a:srgbClr val="14181D"/>
                          </a:solidFill>
                          <a:latin typeface="Segoe UI"/>
                        </a:rPr>
                        <a:t>D1</a:t>
                      </a:r>
                    </a:p>
                  </a:txBody>
                  <a:tcPr marL="91440" marR="91440" marT="36576" marB="36576" anchor="ctr">
                    <a:solidFill>
                      <a:srgbClr val="F3F5F8"/>
                    </a:solidFill>
                  </a:tcPr>
                </a:tc>
                <a:tc>
                  <a:txBody>
                    <a:bodyPr wrap="square"/>
                    <a:lstStyle/>
                    <a:p>
                      <a:r>
                        <a:rPr sz="1250" b="0">
                          <a:solidFill>
                            <a:srgbClr val="14181D"/>
                          </a:solidFill>
                          <a:latin typeface="Segoe UI"/>
                        </a:rPr>
                        <a:t>Discovery and relay shared one receive callback; the last registered won</a:t>
                      </a:r>
                    </a:p>
                  </a:txBody>
                  <a:tcPr marL="91440" marR="91440" marT="36576" marB="36576" anchor="ctr">
                    <a:solidFill>
                      <a:srgbClr val="F3F5F8"/>
                    </a:solidFill>
                  </a:tcPr>
                </a:tc>
                <a:tc>
                  <a:txBody>
                    <a:bodyPr wrap="square"/>
                    <a:lstStyle/>
                    <a:p>
                      <a:r>
                        <a:rPr sz="1250" b="0">
                          <a:solidFill>
                            <a:srgbClr val="14181D"/>
                          </a:solidFill>
                          <a:latin typeface="Segoe UI"/>
                        </a:rPr>
                        <a:t>Single dispatcher registered last</a:t>
                      </a:r>
                    </a:p>
                  </a:txBody>
                  <a:tcPr marL="91440" marR="91440" marT="36576" marB="36576" anchor="ctr">
                    <a:solidFill>
                      <a:srgbClr val="F3F5F8"/>
                    </a:solidFill>
                  </a:tcPr>
                </a:tc>
                <a:tc>
                  <a:txBody>
                    <a:bodyPr wrap="square"/>
                    <a:lstStyle/>
                    <a:p>
                      <a:r>
                        <a:rPr sz="1250" b="0">
                          <a:solidFill>
                            <a:srgbClr val="14181D"/>
                          </a:solidFill>
                          <a:latin typeface="Segoe UI"/>
                        </a:rPr>
                        <a:t>Closed</a:t>
                      </a:r>
                    </a:p>
                  </a:txBody>
                  <a:tcPr marL="91440" marR="91440" marT="36576" marB="36576" anchor="ctr">
                    <a:solidFill>
                      <a:srgbClr val="F3F5F8"/>
                    </a:solidFill>
                  </a:tcPr>
                </a:tc>
              </a:tr>
              <a:tr h="530352">
                <a:tc>
                  <a:txBody>
                    <a:bodyPr wrap="square"/>
                    <a:lstStyle/>
                    <a:p>
                      <a:r>
                        <a:rPr sz="1250" b="1">
                          <a:solidFill>
                            <a:srgbClr val="14181D"/>
                          </a:solidFill>
                          <a:latin typeface="Segoe UI"/>
                        </a:rPr>
                        <a:t>D2</a:t>
                      </a:r>
                    </a:p>
                  </a:txBody>
                  <a:tcPr marL="91440" marR="91440" marT="36576" marB="36576" anchor="ctr">
                    <a:solidFill>
                      <a:srgbClr val="FFFFFF"/>
                    </a:solidFill>
                  </a:tcPr>
                </a:tc>
                <a:tc>
                  <a:txBody>
                    <a:bodyPr wrap="square"/>
                    <a:lstStyle/>
                    <a:p>
                      <a:r>
                        <a:rPr sz="1250" b="0">
                          <a:solidFill>
                            <a:srgbClr val="14181D"/>
                          </a:solidFill>
                          <a:latin typeface="Segoe UI"/>
                        </a:rPr>
                        <a:t>Multi-hop ACK and retry failed: duplicate filter dropped ACKs and retries</a:t>
                      </a:r>
                    </a:p>
                  </a:txBody>
                  <a:tcPr marL="91440" marR="91440" marT="36576" marB="36576" anchor="ctr">
                    <a:solidFill>
                      <a:srgbClr val="FFFFFF"/>
                    </a:solidFill>
                  </a:tcPr>
                </a:tc>
                <a:tc>
                  <a:txBody>
                    <a:bodyPr wrap="square"/>
                    <a:lstStyle/>
                    <a:p>
                      <a:r>
                        <a:rPr sz="1250" b="0">
                          <a:solidFill>
                            <a:srgbClr val="14181D"/>
                          </a:solidFill>
                          <a:latin typeface="Segoe UI"/>
                        </a:rPr>
                        <a:t>Key on type, id and attempt; retry counter in the header</a:t>
                      </a:r>
                    </a:p>
                  </a:txBody>
                  <a:tcPr marL="91440" marR="91440" marT="36576" marB="36576" anchor="ctr">
                    <a:solidFill>
                      <a:srgbClr val="FFFFFF"/>
                    </a:solidFill>
                  </a:tcPr>
                </a:tc>
                <a:tc>
                  <a:txBody>
                    <a:bodyPr wrap="square"/>
                    <a:lstStyle/>
                    <a:p>
                      <a:r>
                        <a:rPr sz="1250" b="0">
                          <a:solidFill>
                            <a:srgbClr val="14181D"/>
                          </a:solidFill>
                          <a:latin typeface="Segoe UI"/>
                        </a:rPr>
                        <a:t>Closed</a:t>
                      </a:r>
                    </a:p>
                  </a:txBody>
                  <a:tcPr marL="91440" marR="91440" marT="36576" marB="36576" anchor="ctr">
                    <a:solidFill>
                      <a:srgbClr val="FFFFFF"/>
                    </a:solidFill>
                  </a:tcPr>
                </a:tc>
              </a:tr>
              <a:tr h="530352">
                <a:tc>
                  <a:txBody>
                    <a:bodyPr wrap="square"/>
                    <a:lstStyle/>
                    <a:p>
                      <a:r>
                        <a:rPr sz="1250" b="1">
                          <a:solidFill>
                            <a:srgbClr val="14181D"/>
                          </a:solidFill>
                          <a:latin typeface="Segoe UI"/>
                        </a:rPr>
                        <a:t>D3</a:t>
                      </a:r>
                    </a:p>
                  </a:txBody>
                  <a:tcPr marL="91440" marR="91440" marT="36576" marB="36576" anchor="ctr">
                    <a:solidFill>
                      <a:srgbClr val="F3F5F8"/>
                    </a:solidFill>
                  </a:tcPr>
                </a:tc>
                <a:tc>
                  <a:txBody>
                    <a:bodyPr wrap="square"/>
                    <a:lstStyle/>
                    <a:p>
                      <a:r>
                        <a:rPr sz="1250" b="0">
                          <a:solidFill>
                            <a:srgbClr val="14181D"/>
                          </a:solidFill>
                          <a:latin typeface="Segoe UI"/>
                        </a:rPr>
                        <a:t>Dead nodes stayed routable: new link-state reports merged with old ones</a:t>
                      </a:r>
                    </a:p>
                  </a:txBody>
                  <a:tcPr marL="91440" marR="91440" marT="36576" marB="36576" anchor="ctr">
                    <a:solidFill>
                      <a:srgbClr val="F3F5F8"/>
                    </a:solidFill>
                  </a:tcPr>
                </a:tc>
                <a:tc>
                  <a:txBody>
                    <a:bodyPr wrap="square"/>
                    <a:lstStyle/>
                    <a:p>
                      <a:r>
                        <a:rPr sz="1250" b="0">
                          <a:solidFill>
                            <a:srgbClr val="14181D"/>
                          </a:solidFill>
                          <a:latin typeface="Segoe UI"/>
                        </a:rPr>
                        <a:t>A newer report replaces the old one</a:t>
                      </a:r>
                    </a:p>
                  </a:txBody>
                  <a:tcPr marL="91440" marR="91440" marT="36576" marB="36576" anchor="ctr">
                    <a:solidFill>
                      <a:srgbClr val="F3F5F8"/>
                    </a:solidFill>
                  </a:tcPr>
                </a:tc>
                <a:tc>
                  <a:txBody>
                    <a:bodyPr wrap="square"/>
                    <a:lstStyle/>
                    <a:p>
                      <a:r>
                        <a:rPr sz="1250" b="0">
                          <a:solidFill>
                            <a:srgbClr val="14181D"/>
                          </a:solidFill>
                          <a:latin typeface="Segoe UI"/>
                        </a:rPr>
                        <a:t>Closed</a:t>
                      </a:r>
                    </a:p>
                  </a:txBody>
                  <a:tcPr marL="91440" marR="91440" marT="36576" marB="36576" anchor="ctr">
                    <a:solidFill>
                      <a:srgbClr val="F3F5F8"/>
                    </a:solidFill>
                  </a:tcPr>
                </a:tc>
              </a:tr>
              <a:tr h="530352">
                <a:tc>
                  <a:txBody>
                    <a:bodyPr wrap="square"/>
                    <a:lstStyle/>
                    <a:p>
                      <a:r>
                        <a:rPr sz="1250" b="1">
                          <a:solidFill>
                            <a:srgbClr val="14181D"/>
                          </a:solidFill>
                          <a:latin typeface="Segoe UI"/>
                        </a:rPr>
                        <a:t>D4</a:t>
                      </a:r>
                    </a:p>
                  </a:txBody>
                  <a:tcPr marL="91440" marR="91440" marT="36576" marB="36576" anchor="ctr">
                    <a:solidFill>
                      <a:srgbClr val="FFFFFF"/>
                    </a:solidFill>
                  </a:tcPr>
                </a:tc>
                <a:tc>
                  <a:txBody>
                    <a:bodyPr wrap="square"/>
                    <a:lstStyle/>
                    <a:p>
                      <a:r>
                        <a:rPr sz="1250" b="0">
                          <a:solidFill>
                            <a:srgbClr val="14181D"/>
                          </a:solidFill>
                          <a:latin typeface="Segoe UI"/>
                        </a:rPr>
                        <a:t>A non-ASCII byte made the parser raise the wrong exception (found by fuzzing)</a:t>
                      </a:r>
                    </a:p>
                  </a:txBody>
                  <a:tcPr marL="91440" marR="91440" marT="36576" marB="36576" anchor="ctr">
                    <a:solidFill>
                      <a:srgbClr val="FFFFFF"/>
                    </a:solidFill>
                  </a:tcPr>
                </a:tc>
                <a:tc>
                  <a:txBody>
                    <a:bodyPr wrap="square"/>
                    <a:lstStyle/>
                    <a:p>
                      <a:r>
                        <a:rPr sz="1250" b="0">
                          <a:solidFill>
                            <a:srgbClr val="14181D"/>
                          </a:solidFill>
                          <a:latin typeface="Segoe UI"/>
                        </a:rPr>
                        <a:t>Raise the packet error; both fuzz tests pass</a:t>
                      </a:r>
                    </a:p>
                  </a:txBody>
                  <a:tcPr marL="91440" marR="91440" marT="36576" marB="36576" anchor="ctr">
                    <a:solidFill>
                      <a:srgbClr val="FFFFFF"/>
                    </a:solidFill>
                  </a:tcPr>
                </a:tc>
                <a:tc>
                  <a:txBody>
                    <a:bodyPr wrap="square"/>
                    <a:lstStyle/>
                    <a:p>
                      <a:r>
                        <a:rPr sz="1250" b="0">
                          <a:solidFill>
                            <a:srgbClr val="14181D"/>
                          </a:solidFill>
                          <a:latin typeface="Segoe UI"/>
                        </a:rPr>
                        <a:t>Closed</a:t>
                      </a:r>
                    </a:p>
                  </a:txBody>
                  <a:tcPr marL="91440" marR="91440" marT="36576" marB="36576" anchor="ctr">
                    <a:solidFill>
                      <a:srgbClr val="FFFFFF"/>
                    </a:solidFill>
                  </a:tcPr>
                </a:tc>
              </a:tr>
              <a:tr h="530352">
                <a:tc>
                  <a:txBody>
                    <a:bodyPr wrap="square"/>
                    <a:lstStyle/>
                    <a:p>
                      <a:r>
                        <a:rPr sz="1250" b="1">
                          <a:solidFill>
                            <a:srgbClr val="14181D"/>
                          </a:solidFill>
                          <a:latin typeface="Segoe UI"/>
                        </a:rPr>
                        <a:t>D5</a:t>
                      </a:r>
                    </a:p>
                  </a:txBody>
                  <a:tcPr marL="91440" marR="91440" marT="36576" marB="36576" anchor="ctr">
                    <a:solidFill>
                      <a:srgbClr val="F3F5F8"/>
                    </a:solidFill>
                  </a:tcPr>
                </a:tc>
                <a:tc>
                  <a:txBody>
                    <a:bodyPr wrap="square"/>
                    <a:lstStyle/>
                    <a:p>
                      <a:r>
                        <a:rPr sz="1250" b="0">
                          <a:solidFill>
                            <a:srgbClr val="14181D"/>
                          </a:solidFill>
                          <a:latin typeface="Segoe UI"/>
                        </a:rPr>
                        <a:t>Node.stop() hung on Windows: a cancellation was swallowed</a:t>
                      </a:r>
                    </a:p>
                  </a:txBody>
                  <a:tcPr marL="91440" marR="91440" marT="36576" marB="36576" anchor="ctr">
                    <a:solidFill>
                      <a:srgbClr val="F3F5F8"/>
                    </a:solidFill>
                  </a:tcPr>
                </a:tc>
                <a:tc>
                  <a:txBody>
                    <a:bodyPr wrap="square"/>
                    <a:lstStyle/>
                    <a:p>
                      <a:r>
                        <a:rPr sz="1250" b="0">
                          <a:solidFill>
                            <a:srgbClr val="14181D"/>
                          </a:solidFill>
                          <a:latin typeface="Segoe UI"/>
                        </a:rPr>
                        <a:t>Helper built on asyncio.wait; 40 of 40 clean</a:t>
                      </a:r>
                    </a:p>
                  </a:txBody>
                  <a:tcPr marL="91440" marR="91440" marT="36576" marB="36576" anchor="ctr">
                    <a:solidFill>
                      <a:srgbClr val="F3F5F8"/>
                    </a:solidFill>
                  </a:tcPr>
                </a:tc>
                <a:tc>
                  <a:txBody>
                    <a:bodyPr wrap="square"/>
                    <a:lstStyle/>
                    <a:p>
                      <a:r>
                        <a:rPr sz="1250" b="0">
                          <a:solidFill>
                            <a:srgbClr val="14181D"/>
                          </a:solidFill>
                          <a:latin typeface="Segoe UI"/>
                        </a:rPr>
                        <a:t>Closed</a:t>
                      </a:r>
                    </a:p>
                  </a:txBody>
                  <a:tcPr marL="91440" marR="91440" marT="36576" marB="36576" anchor="ctr">
                    <a:solidFill>
                      <a:srgbClr val="F3F5F8"/>
                    </a:solidFill>
                  </a:tcPr>
                </a:tc>
              </a:tr>
              <a:tr h="530352">
                <a:tc>
                  <a:txBody>
                    <a:bodyPr wrap="square"/>
                    <a:lstStyle/>
                    <a:p>
                      <a:r>
                        <a:rPr sz="1250" b="1">
                          <a:solidFill>
                            <a:srgbClr val="14181D"/>
                          </a:solidFill>
                          <a:latin typeface="Segoe UI"/>
                        </a:rPr>
                        <a:t>D6</a:t>
                      </a:r>
                    </a:p>
                  </a:txBody>
                  <a:tcPr marL="91440" marR="91440" marT="36576" marB="36576" anchor="ctr">
                    <a:solidFill>
                      <a:srgbClr val="FFFFFF"/>
                    </a:solidFill>
                  </a:tcPr>
                </a:tc>
                <a:tc>
                  <a:txBody>
                    <a:bodyPr wrap="square"/>
                    <a:lstStyle/>
                    <a:p>
                      <a:r>
                        <a:rPr sz="1250" b="0">
                          <a:solidFill>
                            <a:srgbClr val="14181D"/>
                          </a:solidFill>
                          <a:latin typeface="Segoe UI"/>
                        </a:rPr>
                        <a:t>Two timing-sensitive tests failed under load</a:t>
                      </a:r>
                    </a:p>
                  </a:txBody>
                  <a:tcPr marL="91440" marR="91440" marT="36576" marB="36576" anchor="ctr">
                    <a:solidFill>
                      <a:srgbClr val="FFFFFF"/>
                    </a:solidFill>
                  </a:tcPr>
                </a:tc>
                <a:tc>
                  <a:txBody>
                    <a:bodyPr wrap="square"/>
                    <a:lstStyle/>
                    <a:p>
                      <a:r>
                        <a:rPr sz="1250" b="0">
                          <a:solidFill>
                            <a:srgbClr val="14181D"/>
                          </a:solidFill>
                          <a:latin typeface="Segoe UI"/>
                        </a:rPr>
                        <a:t>Polling helper instead of fixed sleeps</a:t>
                      </a:r>
                    </a:p>
                  </a:txBody>
                  <a:tcPr marL="91440" marR="91440" marT="36576" marB="36576" anchor="ctr">
                    <a:solidFill>
                      <a:srgbClr val="FFFFFF"/>
                    </a:solidFill>
                  </a:tcPr>
                </a:tc>
                <a:tc>
                  <a:txBody>
                    <a:bodyPr wrap="square"/>
                    <a:lstStyle/>
                    <a:p>
                      <a:r>
                        <a:rPr sz="1250" b="0">
                          <a:solidFill>
                            <a:srgbClr val="14181D"/>
                          </a:solidFill>
                          <a:latin typeface="Segoe UI"/>
                        </a:rPr>
                        <a:t>Closed</a:t>
                      </a:r>
                    </a:p>
                  </a:txBody>
                  <a:tcPr marL="91440" marR="91440" marT="36576" marB="36576" anchor="ctr">
                    <a:solidFill>
                      <a:srgbClr val="FFFFFF"/>
                    </a:solidFill>
                  </a:tcPr>
                </a:tc>
              </a:tr>
              <a:tr h="530352">
                <a:tc>
                  <a:txBody>
                    <a:bodyPr wrap="square"/>
                    <a:lstStyle/>
                    <a:p>
                      <a:r>
                        <a:rPr sz="1250" b="1">
                          <a:solidFill>
                            <a:srgbClr val="14181D"/>
                          </a:solidFill>
                          <a:latin typeface="Segoe UI"/>
                        </a:rPr>
                        <a:t>D7</a:t>
                      </a:r>
                    </a:p>
                  </a:txBody>
                  <a:tcPr marL="91440" marR="91440" marT="36576" marB="36576" anchor="ctr">
                    <a:solidFill>
                      <a:srgbClr val="F3F5F8"/>
                    </a:solidFill>
                  </a:tcPr>
                </a:tc>
                <a:tc>
                  <a:txBody>
                    <a:bodyPr wrap="square"/>
                    <a:lstStyle/>
                    <a:p>
                      <a:r>
                        <a:rPr sz="1250" b="0">
                          <a:solidFill>
                            <a:srgbClr val="14181D"/>
                          </a:solidFill>
                          <a:latin typeface="Segoe UI"/>
                        </a:rPr>
                        <a:t>History-order test fails now and then: same-millisecond messages have no order</a:t>
                      </a:r>
                    </a:p>
                  </a:txBody>
                  <a:tcPr marL="91440" marR="91440" marT="36576" marB="36576" anchor="ctr">
                    <a:solidFill>
                      <a:srgbClr val="F3F5F8"/>
                    </a:solidFill>
                  </a:tcPr>
                </a:tc>
                <a:tc>
                  <a:txBody>
                    <a:bodyPr wrap="square"/>
                    <a:lstStyle/>
                    <a:p>
                      <a:r>
                        <a:rPr sz="1250" b="0">
                          <a:solidFill>
                            <a:srgbClr val="14181D"/>
                          </a:solidFill>
                          <a:latin typeface="Segoe UI"/>
                        </a:rPr>
                        <a:t>Add a second sort key; with the test's owner</a:t>
                      </a:r>
                    </a:p>
                  </a:txBody>
                  <a:tcPr marL="91440" marR="91440" marT="36576" marB="36576" anchor="ctr">
                    <a:solidFill>
                      <a:srgbClr val="F3F5F8"/>
                    </a:solidFill>
                  </a:tcPr>
                </a:tc>
                <a:tc>
                  <a:txBody>
                    <a:bodyPr wrap="square"/>
                    <a:lstStyle/>
                    <a:p>
                      <a:r>
                        <a:rPr sz="1250" b="0">
                          <a:solidFill>
                            <a:srgbClr val="14181D"/>
                          </a:solidFill>
                          <a:latin typeface="Segoe UI"/>
                        </a:rPr>
                        <a:t>Open</a:t>
                      </a:r>
                    </a:p>
                  </a:txBody>
                  <a:tcPr marL="91440" marR="91440" marT="36576" marB="36576" anchor="ctr">
                    <a:solidFill>
                      <a:srgbClr val="F3F5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IV  ·  P1 INTEGRATION</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The demo: an SOS that survives failures</a:t>
            </a:r>
          </a:p>
        </p:txBody>
      </p:sp>
      <p:sp>
        <p:nvSpPr>
          <p:cNvPr id="4" name="TextBox 3"/>
          <p:cNvSpPr txBox="1"/>
          <p:nvPr/>
        </p:nvSpPr>
        <p:spPr>
          <a:xfrm>
            <a:off x="548640" y="1261872"/>
            <a:ext cx="11064240" cy="365760"/>
          </a:xfrm>
          <a:prstGeom prst="rect">
            <a:avLst/>
          </a:prstGeom>
          <a:noFill/>
        </p:spPr>
        <p:txBody>
          <a:bodyPr wrap="square" lIns="0" rIns="0" tIns="0" bIns="0" anchor="t">
            <a:spAutoFit/>
          </a:bodyPr>
          <a:lstStyle/>
          <a:p>
            <a:pPr algn="l">
              <a:lnSpc>
                <a:spcPct val="110000"/>
              </a:lnSpc>
            </a:pPr>
            <a:r>
              <a:rPr sz="1500" b="0" i="0">
                <a:solidFill>
                  <a:srgbClr val="4D5864"/>
                </a:solidFill>
                <a:latin typeface="Segoe UI"/>
              </a:rPr>
              <a:t>Five minutes, five devices, one app. The script is in docs/DEMO_SCRIPT.md.</a:t>
            </a:r>
          </a:p>
        </p:txBody>
      </p:sp>
      <p:cxnSp>
        <p:nvCxnSpPr>
          <p:cNvPr id="5" name="Connector 4"/>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7" name="TextBox 6"/>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9 / 14</a:t>
            </a:r>
          </a:p>
        </p:txBody>
      </p:sp>
      <p:sp>
        <p:nvSpPr>
          <p:cNvPr id="8" name="Rounded Rectangle 7"/>
          <p:cNvSpPr/>
          <p:nvPr/>
        </p:nvSpPr>
        <p:spPr>
          <a:xfrm>
            <a:off x="548640" y="1783080"/>
            <a:ext cx="2651760" cy="448056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57200" cy="365760"/>
          </a:xfrm>
          <a:prstGeom prst="rect">
            <a:avLst/>
          </a:prstGeom>
          <a:noFill/>
        </p:spPr>
        <p:txBody>
          <a:bodyPr wrap="square" lIns="0" rIns="0" tIns="0" bIns="0" anchor="t">
            <a:spAutoFit/>
          </a:bodyPr>
          <a:lstStyle/>
          <a:p>
            <a:pPr algn="l">
              <a:lnSpc>
                <a:spcPct val="110000"/>
              </a:lnSpc>
            </a:pPr>
            <a:r>
              <a:rPr sz="2000" b="1" i="0">
                <a:solidFill>
                  <a:srgbClr val="5B9CF0"/>
                </a:solidFill>
                <a:latin typeface="Segoe UI"/>
              </a:rPr>
              <a:t>1</a:t>
            </a:r>
          </a:p>
        </p:txBody>
      </p:sp>
      <p:sp>
        <p:nvSpPr>
          <p:cNvPr id="10" name="TextBox 9"/>
          <p:cNvSpPr txBox="1"/>
          <p:nvPr/>
        </p:nvSpPr>
        <p:spPr>
          <a:xfrm>
            <a:off x="1143000" y="1920240"/>
            <a:ext cx="1920239" cy="320040"/>
          </a:xfrm>
          <a:prstGeom prst="rect">
            <a:avLst/>
          </a:prstGeom>
          <a:noFill/>
        </p:spPr>
        <p:txBody>
          <a:bodyPr wrap="square" lIns="0" rIns="0" tIns="0" bIns="0" anchor="t">
            <a:spAutoFit/>
          </a:bodyPr>
          <a:lstStyle/>
          <a:p>
            <a:pPr algn="l">
              <a:lnSpc>
                <a:spcPct val="110000"/>
              </a:lnSpc>
            </a:pPr>
            <a:r>
              <a:rPr sz="1450" b="1" i="0">
                <a:solidFill>
                  <a:srgbClr val="14181D"/>
                </a:solidFill>
                <a:latin typeface="Segoe UI"/>
              </a:rPr>
              <a:t>SOS delivered</a:t>
            </a:r>
          </a:p>
        </p:txBody>
      </p:sp>
      <p:pic>
        <p:nvPicPr>
          <p:cNvPr id="11" name="Picture 10" descr="story_survivor_delivered.png"/>
          <p:cNvPicPr>
            <a:picLocks noChangeAspect="1"/>
          </p:cNvPicPr>
          <p:nvPr/>
        </p:nvPicPr>
        <p:blipFill>
          <a:blip r:embed="rId2"/>
          <a:stretch>
            <a:fillRect/>
          </a:stretch>
        </p:blipFill>
        <p:spPr>
          <a:xfrm>
            <a:off x="1426112" y="2377439"/>
            <a:ext cx="896815" cy="2331720"/>
          </a:xfrm>
          <a:prstGeom prst="rect">
            <a:avLst/>
          </a:prstGeom>
          <a:ln w="9525">
            <a:solidFill>
              <a:srgbClr val="D5DBE2"/>
            </a:solidFill>
          </a:ln>
        </p:spPr>
      </p:pic>
      <p:sp>
        <p:nvSpPr>
          <p:cNvPr id="12" name="TextBox 11"/>
          <p:cNvSpPr txBox="1"/>
          <p:nvPr/>
        </p:nvSpPr>
        <p:spPr>
          <a:xfrm>
            <a:off x="731520" y="4846320"/>
            <a:ext cx="2286000" cy="1371600"/>
          </a:xfrm>
          <a:prstGeom prst="rect">
            <a:avLst/>
          </a:prstGeom>
          <a:noFill/>
        </p:spPr>
        <p:txBody>
          <a:bodyPr wrap="square" lIns="0" rIns="0" tIns="0" bIns="0" anchor="t">
            <a:spAutoFit/>
          </a:bodyPr>
          <a:lstStyle/>
          <a:p>
            <a:pPr algn="l">
              <a:lnSpc>
                <a:spcPct val="115000"/>
              </a:lnSpc>
            </a:pPr>
            <a:r>
              <a:rPr sz="1250" b="0" i="0">
                <a:solidFill>
                  <a:srgbClr val="4D5864"/>
                </a:solidFill>
                <a:latin typeface="Segoe UI"/>
              </a:rPr>
              <a:t>Hold the button. The request reaches the rescue console by way of Phone 2 and the gateway.</a:t>
            </a:r>
          </a:p>
        </p:txBody>
      </p:sp>
      <p:sp>
        <p:nvSpPr>
          <p:cNvPr id="13" name="Rounded Rectangle 12"/>
          <p:cNvSpPr/>
          <p:nvPr/>
        </p:nvSpPr>
        <p:spPr>
          <a:xfrm>
            <a:off x="3364992" y="1783080"/>
            <a:ext cx="2651760" cy="448056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47872" y="1874519"/>
            <a:ext cx="457200" cy="365760"/>
          </a:xfrm>
          <a:prstGeom prst="rect">
            <a:avLst/>
          </a:prstGeom>
          <a:noFill/>
        </p:spPr>
        <p:txBody>
          <a:bodyPr wrap="square" lIns="0" rIns="0" tIns="0" bIns="0" anchor="t">
            <a:spAutoFit/>
          </a:bodyPr>
          <a:lstStyle/>
          <a:p>
            <a:pPr algn="l">
              <a:lnSpc>
                <a:spcPct val="110000"/>
              </a:lnSpc>
            </a:pPr>
            <a:r>
              <a:rPr sz="2000" b="1" i="0">
                <a:solidFill>
                  <a:srgbClr val="5B9CF0"/>
                </a:solidFill>
                <a:latin typeface="Segoe UI"/>
              </a:rPr>
              <a:t>2</a:t>
            </a:r>
          </a:p>
        </p:txBody>
      </p:sp>
      <p:sp>
        <p:nvSpPr>
          <p:cNvPr id="15" name="TextBox 14"/>
          <p:cNvSpPr txBox="1"/>
          <p:nvPr/>
        </p:nvSpPr>
        <p:spPr>
          <a:xfrm>
            <a:off x="3959352" y="1920240"/>
            <a:ext cx="1920239" cy="320040"/>
          </a:xfrm>
          <a:prstGeom prst="rect">
            <a:avLst/>
          </a:prstGeom>
          <a:noFill/>
        </p:spPr>
        <p:txBody>
          <a:bodyPr wrap="square" lIns="0" rIns="0" tIns="0" bIns="0" anchor="t">
            <a:spAutoFit/>
          </a:bodyPr>
          <a:lstStyle/>
          <a:p>
            <a:pPr algn="l">
              <a:lnSpc>
                <a:spcPct val="110000"/>
              </a:lnSpc>
            </a:pPr>
            <a:r>
              <a:rPr sz="1450" b="1" i="0">
                <a:solidFill>
                  <a:srgbClr val="14181D"/>
                </a:solidFill>
                <a:latin typeface="Segoe UI"/>
              </a:rPr>
              <a:t>A relay fails</a:t>
            </a:r>
          </a:p>
        </p:txBody>
      </p:sp>
      <p:sp>
        <p:nvSpPr>
          <p:cNvPr id="16" name="Rounded Rectangle 15"/>
          <p:cNvSpPr/>
          <p:nvPr/>
        </p:nvSpPr>
        <p:spPr>
          <a:xfrm>
            <a:off x="3547872" y="2377440"/>
            <a:ext cx="2286000" cy="2331720"/>
          </a:xfrm>
          <a:prstGeom prst="roundRect">
            <a:avLst>
              <a:gd name="adj" fmla="val 6000"/>
            </a:avLst>
          </a:prstGeom>
          <a:solidFill>
            <a:srgbClr val="0E11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3822192" y="2880360"/>
            <a:ext cx="685800" cy="662940"/>
          </a:xfrm>
          <a:prstGeom prst="line">
            <a:avLst/>
          </a:prstGeom>
          <a:ln w="19050">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507992" y="2880360"/>
            <a:ext cx="685800" cy="662940"/>
          </a:xfrm>
          <a:prstGeom prst="line">
            <a:avLst/>
          </a:prstGeom>
          <a:ln w="19050">
            <a:solidFill>
              <a:srgbClr val="2A303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22192" y="3543300"/>
            <a:ext cx="685800" cy="662940"/>
          </a:xfrm>
          <a:prstGeom prst="line">
            <a:avLst/>
          </a:prstGeom>
          <a:ln w="38100">
            <a:solidFill>
              <a:srgbClr val="5B9CF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507992" y="3543300"/>
            <a:ext cx="685800" cy="662940"/>
          </a:xfrm>
          <a:prstGeom prst="line">
            <a:avLst/>
          </a:prstGeom>
          <a:ln w="38100">
            <a:solidFill>
              <a:srgbClr val="5B9CF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93792" y="3543300"/>
            <a:ext cx="411480" cy="0"/>
          </a:xfrm>
          <a:prstGeom prst="line">
            <a:avLst/>
          </a:prstGeom>
          <a:ln w="38100">
            <a:solidFill>
              <a:srgbClr val="5B9CF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666744" y="3387852"/>
            <a:ext cx="310896" cy="310896"/>
          </a:xfrm>
          <a:prstGeom prst="ellipse">
            <a:avLst/>
          </a:prstGeom>
          <a:solidFill>
            <a:srgbClr val="161A1F"/>
          </a:solidFill>
          <a:ln w="25400">
            <a:solidFill>
              <a:srgbClr val="E04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352544" y="2724912"/>
            <a:ext cx="310896" cy="310896"/>
          </a:xfrm>
          <a:prstGeom prst="ellipse">
            <a:avLst/>
          </a:prstGeom>
          <a:solidFill>
            <a:srgbClr val="161A1F"/>
          </a:solidFill>
          <a:ln w="25400">
            <a:solidFill>
              <a:srgbClr val="2A30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352544" y="4050791"/>
            <a:ext cx="310896" cy="310896"/>
          </a:xfrm>
          <a:prstGeom prst="ellipse">
            <a:avLst/>
          </a:prstGeom>
          <a:solidFill>
            <a:srgbClr val="161A1F"/>
          </a:solidFill>
          <a:ln w="25400">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38344" y="3387852"/>
            <a:ext cx="310896" cy="310896"/>
          </a:xfrm>
          <a:prstGeom prst="ellipse">
            <a:avLst/>
          </a:prstGeom>
          <a:solidFill>
            <a:srgbClr val="161A1F"/>
          </a:solidFill>
          <a:ln w="25400">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49824" y="3387852"/>
            <a:ext cx="310896" cy="310896"/>
          </a:xfrm>
          <a:prstGeom prst="ellipse">
            <a:avLst/>
          </a:prstGeom>
          <a:solidFill>
            <a:srgbClr val="161A1F"/>
          </a:solidFill>
          <a:ln w="25400">
            <a:solidFill>
              <a:srgbClr val="5B9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96512" y="2468880"/>
            <a:ext cx="1188720" cy="274320"/>
          </a:xfrm>
          <a:prstGeom prst="rect">
            <a:avLst/>
          </a:prstGeom>
          <a:noFill/>
        </p:spPr>
        <p:txBody>
          <a:bodyPr wrap="square" lIns="0" rIns="0" tIns="0" bIns="0" anchor="t">
            <a:spAutoFit/>
          </a:bodyPr>
          <a:lstStyle/>
          <a:p>
            <a:pPr algn="ctr">
              <a:lnSpc>
                <a:spcPct val="110000"/>
              </a:lnSpc>
            </a:pPr>
            <a:r>
              <a:rPr sz="1100" b="0" i="0">
                <a:solidFill>
                  <a:srgbClr val="A6AFB9"/>
                </a:solidFill>
                <a:latin typeface="Segoe UI"/>
              </a:rPr>
              <a:t>off</a:t>
            </a:r>
          </a:p>
        </p:txBody>
      </p:sp>
      <p:sp>
        <p:nvSpPr>
          <p:cNvPr id="28" name="TextBox 27"/>
          <p:cNvSpPr txBox="1"/>
          <p:nvPr/>
        </p:nvSpPr>
        <p:spPr>
          <a:xfrm>
            <a:off x="3547872" y="4846320"/>
            <a:ext cx="2286000" cy="1371600"/>
          </a:xfrm>
          <a:prstGeom prst="rect">
            <a:avLst/>
          </a:prstGeom>
          <a:noFill/>
        </p:spPr>
        <p:txBody>
          <a:bodyPr wrap="square" lIns="0" rIns="0" tIns="0" bIns="0" anchor="t">
            <a:spAutoFit/>
          </a:bodyPr>
          <a:lstStyle/>
          <a:p>
            <a:pPr algn="l">
              <a:lnSpc>
                <a:spcPct val="115000"/>
              </a:lnSpc>
            </a:pPr>
            <a:r>
              <a:rPr sz="1250" b="0" i="0">
                <a:solidFill>
                  <a:srgbClr val="4D5864"/>
                </a:solidFill>
                <a:latin typeface="Segoe UI"/>
              </a:rPr>
              <a:t>Switch off the relay. The activity panel shows the lost contact; the next SOS takes the other path.</a:t>
            </a:r>
          </a:p>
        </p:txBody>
      </p:sp>
      <p:sp>
        <p:nvSpPr>
          <p:cNvPr id="29" name="Rounded Rectangle 28"/>
          <p:cNvSpPr/>
          <p:nvPr/>
        </p:nvSpPr>
        <p:spPr>
          <a:xfrm>
            <a:off x="6181344" y="1783080"/>
            <a:ext cx="2651760" cy="448056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1874519"/>
            <a:ext cx="457200" cy="365760"/>
          </a:xfrm>
          <a:prstGeom prst="rect">
            <a:avLst/>
          </a:prstGeom>
          <a:noFill/>
        </p:spPr>
        <p:txBody>
          <a:bodyPr wrap="square" lIns="0" rIns="0" tIns="0" bIns="0" anchor="t">
            <a:spAutoFit/>
          </a:bodyPr>
          <a:lstStyle/>
          <a:p>
            <a:pPr algn="l">
              <a:lnSpc>
                <a:spcPct val="110000"/>
              </a:lnSpc>
            </a:pPr>
            <a:r>
              <a:rPr sz="2000" b="1" i="0">
                <a:solidFill>
                  <a:srgbClr val="5B9CF0"/>
                </a:solidFill>
                <a:latin typeface="Segoe UI"/>
              </a:rPr>
              <a:t>3</a:t>
            </a:r>
          </a:p>
        </p:txBody>
      </p:sp>
      <p:sp>
        <p:nvSpPr>
          <p:cNvPr id="31" name="TextBox 30"/>
          <p:cNvSpPr txBox="1"/>
          <p:nvPr/>
        </p:nvSpPr>
        <p:spPr>
          <a:xfrm>
            <a:off x="6775704" y="1920240"/>
            <a:ext cx="1920239" cy="320040"/>
          </a:xfrm>
          <a:prstGeom prst="rect">
            <a:avLst/>
          </a:prstGeom>
          <a:noFill/>
        </p:spPr>
        <p:txBody>
          <a:bodyPr wrap="square" lIns="0" rIns="0" tIns="0" bIns="0" anchor="t">
            <a:spAutoFit/>
          </a:bodyPr>
          <a:lstStyle/>
          <a:p>
            <a:pPr algn="l">
              <a:lnSpc>
                <a:spcPct val="110000"/>
              </a:lnSpc>
            </a:pPr>
            <a:r>
              <a:rPr sz="1450" b="1" i="0">
                <a:solidFill>
                  <a:srgbClr val="14181D"/>
                </a:solidFill>
                <a:latin typeface="Segoe UI"/>
              </a:rPr>
              <a:t>The gateway fails</a:t>
            </a:r>
          </a:p>
        </p:txBody>
      </p:sp>
      <p:pic>
        <p:nvPicPr>
          <p:cNvPr id="32" name="Picture 31" descr="story_survivor_held.png"/>
          <p:cNvPicPr>
            <a:picLocks noChangeAspect="1"/>
          </p:cNvPicPr>
          <p:nvPr/>
        </p:nvPicPr>
        <p:blipFill>
          <a:blip r:embed="rId3"/>
          <a:stretch>
            <a:fillRect/>
          </a:stretch>
        </p:blipFill>
        <p:spPr>
          <a:xfrm>
            <a:off x="7058816" y="2377439"/>
            <a:ext cx="896815" cy="2331720"/>
          </a:xfrm>
          <a:prstGeom prst="rect">
            <a:avLst/>
          </a:prstGeom>
          <a:ln w="9525">
            <a:solidFill>
              <a:srgbClr val="D5DBE2"/>
            </a:solidFill>
          </a:ln>
        </p:spPr>
      </p:pic>
      <p:sp>
        <p:nvSpPr>
          <p:cNvPr id="33" name="TextBox 32"/>
          <p:cNvSpPr txBox="1"/>
          <p:nvPr/>
        </p:nvSpPr>
        <p:spPr>
          <a:xfrm>
            <a:off x="6364224" y="4846320"/>
            <a:ext cx="2286000" cy="1371600"/>
          </a:xfrm>
          <a:prstGeom prst="rect">
            <a:avLst/>
          </a:prstGeom>
          <a:noFill/>
        </p:spPr>
        <p:txBody>
          <a:bodyPr wrap="square" lIns="0" rIns="0" tIns="0" bIns="0" anchor="t">
            <a:spAutoFit/>
          </a:bodyPr>
          <a:lstStyle/>
          <a:p>
            <a:pPr algn="l">
              <a:lnSpc>
                <a:spcPct val="115000"/>
              </a:lnSpc>
            </a:pPr>
            <a:r>
              <a:rPr sz="1250" b="0" i="0">
                <a:solidFill>
                  <a:srgbClr val="4D5864"/>
                </a:solidFill>
                <a:latin typeface="Segoe UI"/>
              </a:rPr>
              <a:t>No route. The phone says “Saved, waiting for a path” and keeps the message safe.</a:t>
            </a:r>
          </a:p>
        </p:txBody>
      </p:sp>
      <p:sp>
        <p:nvSpPr>
          <p:cNvPr id="34" name="Rounded Rectangle 33"/>
          <p:cNvSpPr/>
          <p:nvPr/>
        </p:nvSpPr>
        <p:spPr>
          <a:xfrm>
            <a:off x="8997696" y="1783080"/>
            <a:ext cx="2651760" cy="448056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0576" y="1874519"/>
            <a:ext cx="457200" cy="365760"/>
          </a:xfrm>
          <a:prstGeom prst="rect">
            <a:avLst/>
          </a:prstGeom>
          <a:noFill/>
        </p:spPr>
        <p:txBody>
          <a:bodyPr wrap="square" lIns="0" rIns="0" tIns="0" bIns="0" anchor="t">
            <a:spAutoFit/>
          </a:bodyPr>
          <a:lstStyle/>
          <a:p>
            <a:pPr algn="l">
              <a:lnSpc>
                <a:spcPct val="110000"/>
              </a:lnSpc>
            </a:pPr>
            <a:r>
              <a:rPr sz="2000" b="1" i="0">
                <a:solidFill>
                  <a:srgbClr val="5B9CF0"/>
                </a:solidFill>
                <a:latin typeface="Segoe UI"/>
              </a:rPr>
              <a:t>4</a:t>
            </a:r>
          </a:p>
        </p:txBody>
      </p:sp>
      <p:sp>
        <p:nvSpPr>
          <p:cNvPr id="36" name="TextBox 35"/>
          <p:cNvSpPr txBox="1"/>
          <p:nvPr/>
        </p:nvSpPr>
        <p:spPr>
          <a:xfrm>
            <a:off x="9592056" y="1920240"/>
            <a:ext cx="1920239" cy="320040"/>
          </a:xfrm>
          <a:prstGeom prst="rect">
            <a:avLst/>
          </a:prstGeom>
          <a:noFill/>
        </p:spPr>
        <p:txBody>
          <a:bodyPr wrap="square" lIns="0" rIns="0" tIns="0" bIns="0" anchor="t">
            <a:spAutoFit/>
          </a:bodyPr>
          <a:lstStyle/>
          <a:p>
            <a:pPr algn="l">
              <a:lnSpc>
                <a:spcPct val="110000"/>
              </a:lnSpc>
            </a:pPr>
            <a:r>
              <a:rPr sz="1450" b="1" i="0">
                <a:solidFill>
                  <a:srgbClr val="14181D"/>
                </a:solidFill>
                <a:latin typeface="Segoe UI"/>
              </a:rPr>
              <a:t>The gateway returns</a:t>
            </a:r>
          </a:p>
        </p:txBody>
      </p:sp>
      <p:pic>
        <p:nvPicPr>
          <p:cNvPr id="37" name="Picture 36" descr="story_survivor_flushed.png"/>
          <p:cNvPicPr>
            <a:picLocks noChangeAspect="1"/>
          </p:cNvPicPr>
          <p:nvPr/>
        </p:nvPicPr>
        <p:blipFill>
          <a:blip r:embed="rId4"/>
          <a:stretch>
            <a:fillRect/>
          </a:stretch>
        </p:blipFill>
        <p:spPr>
          <a:xfrm>
            <a:off x="9875168" y="2377439"/>
            <a:ext cx="896815" cy="2331720"/>
          </a:xfrm>
          <a:prstGeom prst="rect">
            <a:avLst/>
          </a:prstGeom>
          <a:ln w="9525">
            <a:solidFill>
              <a:srgbClr val="D5DBE2"/>
            </a:solidFill>
          </a:ln>
        </p:spPr>
      </p:pic>
      <p:sp>
        <p:nvSpPr>
          <p:cNvPr id="38" name="TextBox 37"/>
          <p:cNvSpPr txBox="1"/>
          <p:nvPr/>
        </p:nvSpPr>
        <p:spPr>
          <a:xfrm>
            <a:off x="9180576" y="4846320"/>
            <a:ext cx="2286000" cy="1371600"/>
          </a:xfrm>
          <a:prstGeom prst="rect">
            <a:avLst/>
          </a:prstGeom>
          <a:noFill/>
        </p:spPr>
        <p:txBody>
          <a:bodyPr wrap="square" lIns="0" rIns="0" tIns="0" bIns="0" anchor="t">
            <a:spAutoFit/>
          </a:bodyPr>
          <a:lstStyle/>
          <a:p>
            <a:pPr algn="l">
              <a:lnSpc>
                <a:spcPct val="115000"/>
              </a:lnSpc>
            </a:pPr>
            <a:r>
              <a:rPr sz="1250" b="0" i="0">
                <a:solidFill>
                  <a:srgbClr val="4D5864"/>
                </a:solidFill>
                <a:latin typeface="Segoe UI"/>
              </a:rPr>
              <a:t>Within seconds the held message is sent and the screen confirms the rescue team has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IV  ·  P2 TESTING</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Functional testing: does it do what the SRS says</a:t>
            </a:r>
          </a:p>
        </p:txBody>
      </p:sp>
      <p:cxnSp>
        <p:nvCxnSpPr>
          <p:cNvPr id="4" name="Connector 3"/>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6" name="TextBox 5"/>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10 / 14</a:t>
            </a:r>
          </a:p>
        </p:txBody>
      </p:sp>
      <p:sp>
        <p:nvSpPr>
          <p:cNvPr id="7" name="Rounded Rectangle 6"/>
          <p:cNvSpPr/>
          <p:nvPr/>
        </p:nvSpPr>
        <p:spPr>
          <a:xfrm>
            <a:off x="548640" y="1600200"/>
            <a:ext cx="361188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3200400" cy="822960"/>
          </a:xfrm>
          <a:prstGeom prst="rect">
            <a:avLst/>
          </a:prstGeom>
          <a:noFill/>
        </p:spPr>
        <p:txBody>
          <a:bodyPr wrap="square" lIns="0" rIns="0" tIns="0" bIns="0" anchor="t">
            <a:spAutoFit/>
          </a:bodyPr>
          <a:lstStyle/>
          <a:p>
            <a:pPr algn="l">
              <a:lnSpc>
                <a:spcPct val="110000"/>
              </a:lnSpc>
            </a:pPr>
            <a:r>
              <a:rPr sz="4400" b="1" i="0">
                <a:solidFill>
                  <a:srgbClr val="5B9CF0"/>
                </a:solidFill>
                <a:latin typeface="Segoe UI"/>
              </a:rPr>
              <a:t>331</a:t>
            </a:r>
          </a:p>
        </p:txBody>
      </p:sp>
      <p:sp>
        <p:nvSpPr>
          <p:cNvPr id="9" name="TextBox 8"/>
          <p:cNvSpPr txBox="1"/>
          <p:nvPr/>
        </p:nvSpPr>
        <p:spPr>
          <a:xfrm>
            <a:off x="777240" y="2606040"/>
            <a:ext cx="3200400" cy="548640"/>
          </a:xfrm>
          <a:prstGeom prst="rect">
            <a:avLst/>
          </a:prstGeom>
          <a:noFill/>
        </p:spPr>
        <p:txBody>
          <a:bodyPr wrap="square" lIns="0" rIns="0" tIns="0" bIns="0" anchor="t">
            <a:spAutoFit/>
          </a:bodyPr>
          <a:lstStyle/>
          <a:p>
            <a:pPr algn="l">
              <a:lnSpc>
                <a:spcPct val="110000"/>
              </a:lnSpc>
            </a:pPr>
            <a:r>
              <a:rPr sz="1300" b="0" i="0">
                <a:solidFill>
                  <a:srgbClr val="4D5864"/>
                </a:solidFill>
                <a:latin typeface="Segoe UI"/>
              </a:rPr>
              <a:t>automated tests pass in a fresh run</a:t>
            </a:r>
          </a:p>
        </p:txBody>
      </p:sp>
      <p:sp>
        <p:nvSpPr>
          <p:cNvPr id="10" name="Rounded Rectangle 9"/>
          <p:cNvSpPr/>
          <p:nvPr/>
        </p:nvSpPr>
        <p:spPr>
          <a:xfrm>
            <a:off x="4297679" y="1600200"/>
            <a:ext cx="361188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1719072"/>
            <a:ext cx="3200400" cy="822960"/>
          </a:xfrm>
          <a:prstGeom prst="rect">
            <a:avLst/>
          </a:prstGeom>
          <a:noFill/>
        </p:spPr>
        <p:txBody>
          <a:bodyPr wrap="square" lIns="0" rIns="0" tIns="0" bIns="0" anchor="t">
            <a:spAutoFit/>
          </a:bodyPr>
          <a:lstStyle/>
          <a:p>
            <a:pPr algn="l">
              <a:lnSpc>
                <a:spcPct val="110000"/>
              </a:lnSpc>
            </a:pPr>
            <a:r>
              <a:rPr sz="4400" b="1" i="0">
                <a:solidFill>
                  <a:srgbClr val="5B9CF0"/>
                </a:solidFill>
                <a:latin typeface="Segoe UI"/>
              </a:rPr>
              <a:t>68</a:t>
            </a:r>
          </a:p>
        </p:txBody>
      </p:sp>
      <p:sp>
        <p:nvSpPr>
          <p:cNvPr id="12" name="TextBox 11"/>
          <p:cNvSpPr txBox="1"/>
          <p:nvPr/>
        </p:nvSpPr>
        <p:spPr>
          <a:xfrm>
            <a:off x="4526279" y="2606040"/>
            <a:ext cx="3200400" cy="548640"/>
          </a:xfrm>
          <a:prstGeom prst="rect">
            <a:avLst/>
          </a:prstGeom>
          <a:noFill/>
        </p:spPr>
        <p:txBody>
          <a:bodyPr wrap="square" lIns="0" rIns="0" tIns="0" bIns="0" anchor="t">
            <a:spAutoFit/>
          </a:bodyPr>
          <a:lstStyle/>
          <a:p>
            <a:pPr algn="l">
              <a:lnSpc>
                <a:spcPct val="110000"/>
              </a:lnSpc>
            </a:pPr>
            <a:r>
              <a:rPr sz="1300" b="0" i="0">
                <a:solidFill>
                  <a:srgbClr val="4D5864"/>
                </a:solidFill>
                <a:latin typeface="Segoe UI"/>
              </a:rPr>
              <a:t>functional requirements, each traced to evidence</a:t>
            </a:r>
          </a:p>
        </p:txBody>
      </p:sp>
      <p:sp>
        <p:nvSpPr>
          <p:cNvPr id="13" name="Rounded Rectangle 12"/>
          <p:cNvSpPr/>
          <p:nvPr/>
        </p:nvSpPr>
        <p:spPr>
          <a:xfrm>
            <a:off x="8046719" y="1600200"/>
            <a:ext cx="361188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719072"/>
            <a:ext cx="3200400" cy="822960"/>
          </a:xfrm>
          <a:prstGeom prst="rect">
            <a:avLst/>
          </a:prstGeom>
          <a:noFill/>
        </p:spPr>
        <p:txBody>
          <a:bodyPr wrap="square" lIns="0" rIns="0" tIns="0" bIns="0" anchor="t">
            <a:spAutoFit/>
          </a:bodyPr>
          <a:lstStyle/>
          <a:p>
            <a:pPr algn="l">
              <a:lnSpc>
                <a:spcPct val="110000"/>
              </a:lnSpc>
            </a:pPr>
            <a:r>
              <a:rPr sz="4400" b="1" i="0">
                <a:solidFill>
                  <a:srgbClr val="5B9CF0"/>
                </a:solidFill>
                <a:latin typeface="Segoe UI"/>
              </a:rPr>
              <a:t>64</a:t>
            </a:r>
          </a:p>
        </p:txBody>
      </p:sp>
      <p:sp>
        <p:nvSpPr>
          <p:cNvPr id="15" name="TextBox 14"/>
          <p:cNvSpPr txBox="1"/>
          <p:nvPr/>
        </p:nvSpPr>
        <p:spPr>
          <a:xfrm>
            <a:off x="8275319" y="2606040"/>
            <a:ext cx="3200400" cy="548640"/>
          </a:xfrm>
          <a:prstGeom prst="rect">
            <a:avLst/>
          </a:prstGeom>
          <a:noFill/>
        </p:spPr>
        <p:txBody>
          <a:bodyPr wrap="square" lIns="0" rIns="0" tIns="0" bIns="0" anchor="t">
            <a:spAutoFit/>
          </a:bodyPr>
          <a:lstStyle/>
          <a:p>
            <a:pPr algn="l">
              <a:lnSpc>
                <a:spcPct val="110000"/>
              </a:lnSpc>
            </a:pPr>
            <a:r>
              <a:rPr sz="1300" b="0" i="0">
                <a:solidFill>
                  <a:srgbClr val="4D5864"/>
                </a:solidFill>
                <a:latin typeface="Segoe UI"/>
              </a:rPr>
              <a:t>fully verified by tests (12 with a manual look at the screen)</a:t>
            </a:r>
          </a:p>
        </p:txBody>
      </p:sp>
      <p:sp>
        <p:nvSpPr>
          <p:cNvPr id="16" name="TextBox 15"/>
          <p:cNvSpPr txBox="1"/>
          <p:nvPr/>
        </p:nvSpPr>
        <p:spPr>
          <a:xfrm>
            <a:off x="548640" y="3520440"/>
            <a:ext cx="11064240" cy="2377440"/>
          </a:xfrm>
          <a:prstGeom prst="rect">
            <a:avLst/>
          </a:prstGeom>
          <a:noFill/>
        </p:spPr>
        <p:txBody>
          <a:bodyPr wrap="square" lIns="0" rIns="0" tIns="0" bIns="0">
            <a:spAutoFit/>
          </a:bodyPr>
          <a:lstStyle/>
          <a:p>
            <a:pPr marL="201168" indent="-201168">
              <a:lnSpc>
                <a:spcPct val="108000"/>
              </a:lnSpc>
              <a:spcAft>
                <a:spcPts val="1200"/>
              </a:spcAft>
              <a:buChar char="•"/>
            </a:pPr>
            <a:r>
              <a:rPr sz="1500" b="1">
                <a:solidFill>
                  <a:srgbClr val="14181D"/>
                </a:solidFill>
                <a:latin typeface="Segoe UI"/>
              </a:rPr>
              <a:t>Device screens: </a:t>
            </a:r>
            <a:r>
              <a:rPr sz="1500" b="0">
                <a:solidFill>
                  <a:srgbClr val="14181D"/>
                </a:solidFill>
                <a:latin typeface="Segoe UI"/>
              </a:rPr>
              <a:t>18 of 18 browser checks pass: SOS with need and location, I am safe, send a message, rescue reply, filters, history, CSV export, activity panel, gateway off and on.</a:t>
            </a:r>
          </a:p>
          <a:p>
            <a:pPr marL="201168" indent="-201168">
              <a:lnSpc>
                <a:spcPct val="108000"/>
              </a:lnSpc>
              <a:spcAft>
                <a:spcPts val="1200"/>
              </a:spcAft>
              <a:buChar char="•"/>
            </a:pPr>
            <a:r>
              <a:rPr sz="1500" b="1">
                <a:solidFill>
                  <a:srgbClr val="14181D"/>
                </a:solidFill>
                <a:latin typeface="Segoe UI"/>
              </a:rPr>
              <a:t>Simulation lab website: </a:t>
            </a:r>
            <a:r>
              <a:rPr sz="1500" b="0">
                <a:solidFill>
                  <a:srgbClr val="14181D"/>
                </a:solidFill>
                <a:latin typeface="Segoe UI"/>
              </a:rPr>
              <a:t>16 of 16 browser checks pass.</a:t>
            </a:r>
          </a:p>
          <a:p>
            <a:pPr marL="201168" indent="-201168">
              <a:lnSpc>
                <a:spcPct val="108000"/>
              </a:lnSpc>
              <a:spcAft>
                <a:spcPts val="1200"/>
              </a:spcAft>
              <a:buChar char="•"/>
            </a:pPr>
            <a:r>
              <a:rPr sz="1500" b="1">
                <a:solidFill>
                  <a:srgbClr val="14181D"/>
                </a:solidFill>
                <a:latin typeface="Segoe UI"/>
              </a:rPr>
              <a:t>Other methods: </a:t>
            </a:r>
            <a:r>
              <a:rPr sz="1500" b="0">
                <a:solidFill>
                  <a:srgbClr val="14181D"/>
                </a:solidFill>
                <a:latin typeface="Segoe UI"/>
              </a:rPr>
              <a:t>0 partly implemented, 2 by code inspection, 2 by manual check only. Nothing is hidden.</a:t>
            </a:r>
          </a:p>
        </p:txBody>
      </p:sp>
      <p:sp>
        <p:nvSpPr>
          <p:cNvPr id="17" name="TextBox 16"/>
          <p:cNvSpPr txBox="1"/>
          <p:nvPr/>
        </p:nvSpPr>
        <p:spPr>
          <a:xfrm>
            <a:off x="548640" y="5897880"/>
            <a:ext cx="11064240" cy="365760"/>
          </a:xfrm>
          <a:prstGeom prst="rect">
            <a:avLst/>
          </a:prstGeom>
          <a:noFill/>
        </p:spPr>
        <p:txBody>
          <a:bodyPr wrap="square" lIns="0" rIns="0" tIns="0" bIns="0" anchor="t">
            <a:spAutoFit/>
          </a:bodyPr>
          <a:lstStyle/>
          <a:p>
            <a:pPr algn="l">
              <a:lnSpc>
                <a:spcPct val="110000"/>
              </a:lnSpc>
            </a:pPr>
            <a:r>
              <a:rPr sz="1300" b="0" i="0">
                <a:solidFill>
                  <a:srgbClr val="4D5864"/>
                </a:solidFill>
                <a:latin typeface="Segoe UI"/>
              </a:rPr>
              <a:t>Test levels: unit, integration, API, browser, simulation, five real processes over TCP, fuzzing and stress.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IV  ·  P2 TESTING</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Non-functional results: 7 of 10 targets fully met</a:t>
            </a:r>
          </a:p>
        </p:txBody>
      </p:sp>
      <p:sp>
        <p:nvSpPr>
          <p:cNvPr id="4" name="TextBox 3"/>
          <p:cNvSpPr txBox="1"/>
          <p:nvPr/>
        </p:nvSpPr>
        <p:spPr>
          <a:xfrm>
            <a:off x="548640" y="1261872"/>
            <a:ext cx="11064240" cy="365760"/>
          </a:xfrm>
          <a:prstGeom prst="rect">
            <a:avLst/>
          </a:prstGeom>
          <a:noFill/>
        </p:spPr>
        <p:txBody>
          <a:bodyPr wrap="square" lIns="0" rIns="0" tIns="0" bIns="0" anchor="t">
            <a:spAutoFit/>
          </a:bodyPr>
          <a:lstStyle/>
          <a:p>
            <a:pPr algn="l">
              <a:lnSpc>
                <a:spcPct val="110000"/>
              </a:lnSpc>
            </a:pPr>
            <a:r>
              <a:rPr sz="1500" b="0" i="0">
                <a:solidFill>
                  <a:srgbClr val="4D5864"/>
                </a:solidFill>
                <a:latin typeface="Segoe UI"/>
              </a:rPr>
              <a:t>Ten targets were fixed in the project plan before any measurement.</a:t>
            </a:r>
          </a:p>
        </p:txBody>
      </p:sp>
      <p:cxnSp>
        <p:nvCxnSpPr>
          <p:cNvPr id="5" name="Connector 4"/>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7" name="TextBox 6"/>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11 / 14</a:t>
            </a:r>
          </a:p>
        </p:txBody>
      </p:sp>
      <p:sp>
        <p:nvSpPr>
          <p:cNvPr id="8" name="Rounded Rectangle 7"/>
          <p:cNvSpPr/>
          <p:nvPr/>
        </p:nvSpPr>
        <p:spPr>
          <a:xfrm>
            <a:off x="548640" y="1783080"/>
            <a:ext cx="3611880" cy="3246120"/>
          </a:xfrm>
          <a:prstGeom prst="roundRect">
            <a:avLst>
              <a:gd name="adj" fmla="val 6000"/>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3246120" cy="274320"/>
          </a:xfrm>
          <a:prstGeom prst="rect">
            <a:avLst/>
          </a:prstGeom>
          <a:noFill/>
        </p:spPr>
        <p:txBody>
          <a:bodyPr wrap="square" lIns="0" rIns="0" tIns="0" bIns="0" anchor="t">
            <a:spAutoFit/>
          </a:bodyPr>
          <a:lstStyle/>
          <a:p>
            <a:pPr algn="l">
              <a:lnSpc>
                <a:spcPct val="110000"/>
              </a:lnSpc>
            </a:pPr>
            <a:r>
              <a:rPr sz="1300" b="1" i="0">
                <a:solidFill>
                  <a:srgbClr val="14181D"/>
                </a:solidFill>
                <a:latin typeface="Segoe UI"/>
              </a:rPr>
              <a:t>Delivery against packet loss</a:t>
            </a:r>
          </a:p>
        </p:txBody>
      </p:sp>
      <p:graphicFrame>
        <p:nvGraphicFramePr>
          <p:cNvPr id="10" name="Chart 9"/>
          <p:cNvGraphicFramePr>
            <a:graphicFrameLocks noGrp="1"/>
          </p:cNvGraphicFramePr>
          <p:nvPr/>
        </p:nvGraphicFramePr>
        <p:xfrm>
          <a:off x="640080" y="2194560"/>
          <a:ext cx="3429000" cy="2788920"/>
        </p:xfrm>
        <a:graphic>
          <a:graphicData uri="http://schemas.openxmlformats.org/drawingml/2006/chart">
            <c:chart xmlns:c="http://schemas.openxmlformats.org/drawingml/2006/chart" r:id="rId2"/>
          </a:graphicData>
        </a:graphic>
      </p:graphicFrame>
      <p:sp>
        <p:nvSpPr>
          <p:cNvPr id="11" name="Rounded Rectangle 10"/>
          <p:cNvSpPr/>
          <p:nvPr/>
        </p:nvSpPr>
        <p:spPr>
          <a:xfrm>
            <a:off x="4288536" y="1783080"/>
            <a:ext cx="3611880" cy="3246120"/>
          </a:xfrm>
          <a:prstGeom prst="roundRect">
            <a:avLst>
              <a:gd name="adj" fmla="val 6000"/>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1416" y="1874519"/>
            <a:ext cx="3246120" cy="274320"/>
          </a:xfrm>
          <a:prstGeom prst="rect">
            <a:avLst/>
          </a:prstGeom>
          <a:noFill/>
        </p:spPr>
        <p:txBody>
          <a:bodyPr wrap="square" lIns="0" rIns="0" tIns="0" bIns="0" anchor="t">
            <a:spAutoFit/>
          </a:bodyPr>
          <a:lstStyle/>
          <a:p>
            <a:pPr algn="l">
              <a:lnSpc>
                <a:spcPct val="110000"/>
              </a:lnSpc>
            </a:pPr>
            <a:r>
              <a:rPr sz="1300" b="1" i="0">
                <a:solidFill>
                  <a:srgbClr val="14181D"/>
                </a:solidFill>
                <a:latin typeface="Segoe UI"/>
              </a:rPr>
              <a:t>Weighted vs hop-count routing</a:t>
            </a:r>
          </a:p>
        </p:txBody>
      </p:sp>
      <p:graphicFrame>
        <p:nvGraphicFramePr>
          <p:cNvPr id="13" name="Chart 12"/>
          <p:cNvGraphicFramePr>
            <a:graphicFrameLocks noGrp="1"/>
          </p:cNvGraphicFramePr>
          <p:nvPr/>
        </p:nvGraphicFramePr>
        <p:xfrm>
          <a:off x="4379975" y="2194560"/>
          <a:ext cx="3429000" cy="2788920"/>
        </p:xfrm>
        <a:graphic>
          <a:graphicData uri="http://schemas.openxmlformats.org/drawingml/2006/chart">
            <c:chart xmlns:c="http://schemas.openxmlformats.org/drawingml/2006/chart" r:id="rId3"/>
          </a:graphicData>
        </a:graphic>
      </p:graphicFrame>
      <p:sp>
        <p:nvSpPr>
          <p:cNvPr id="14" name="Rounded Rectangle 13"/>
          <p:cNvSpPr/>
          <p:nvPr/>
        </p:nvSpPr>
        <p:spPr>
          <a:xfrm>
            <a:off x="8028432" y="1783080"/>
            <a:ext cx="3611880" cy="3246120"/>
          </a:xfrm>
          <a:prstGeom prst="roundRect">
            <a:avLst>
              <a:gd name="adj" fmla="val 6000"/>
            </a:avLst>
          </a:prstGeom>
          <a:solidFill>
            <a:srgbClr val="FFFFFF"/>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1874519"/>
            <a:ext cx="3246120" cy="274320"/>
          </a:xfrm>
          <a:prstGeom prst="rect">
            <a:avLst/>
          </a:prstGeom>
          <a:noFill/>
        </p:spPr>
        <p:txBody>
          <a:bodyPr wrap="square" lIns="0" rIns="0" tIns="0" bIns="0" anchor="t">
            <a:spAutoFit/>
          </a:bodyPr>
          <a:lstStyle/>
          <a:p>
            <a:pPr algn="l">
              <a:lnSpc>
                <a:spcPct val="110000"/>
              </a:lnSpc>
            </a:pPr>
            <a:r>
              <a:rPr sz="1300" b="1" i="0">
                <a:solidFill>
                  <a:srgbClr val="14181D"/>
                </a:solidFill>
                <a:latin typeface="Segoe UI"/>
              </a:rPr>
              <a:t>Median latency under load (ms)</a:t>
            </a:r>
          </a:p>
        </p:txBody>
      </p:sp>
      <p:graphicFrame>
        <p:nvGraphicFramePr>
          <p:cNvPr id="16" name="Chart 15"/>
          <p:cNvGraphicFramePr>
            <a:graphicFrameLocks noGrp="1"/>
          </p:cNvGraphicFramePr>
          <p:nvPr/>
        </p:nvGraphicFramePr>
        <p:xfrm>
          <a:off x="8119872" y="2194560"/>
          <a:ext cx="3429000" cy="2788920"/>
        </p:xfrm>
        <a:graphic>
          <a:graphicData uri="http://schemas.openxmlformats.org/drawingml/2006/chart">
            <c:chart xmlns:c="http://schemas.openxmlformats.org/drawingml/2006/chart" r:id="rId4"/>
          </a:graphicData>
        </a:graphic>
      </p:graphicFrame>
      <p:sp>
        <p:nvSpPr>
          <p:cNvPr id="17" name="TextBox 16"/>
          <p:cNvSpPr txBox="1"/>
          <p:nvPr/>
        </p:nvSpPr>
        <p:spPr>
          <a:xfrm>
            <a:off x="8211312" y="5029200"/>
            <a:ext cx="3246120" cy="274320"/>
          </a:xfrm>
          <a:prstGeom prst="rect">
            <a:avLst/>
          </a:prstGeom>
          <a:noFill/>
        </p:spPr>
        <p:txBody>
          <a:bodyPr wrap="square" lIns="0" rIns="0" tIns="0" bIns="0" anchor="t">
            <a:spAutoFit/>
          </a:bodyPr>
          <a:lstStyle/>
          <a:p>
            <a:pPr algn="l">
              <a:lnSpc>
                <a:spcPct val="110000"/>
              </a:lnSpc>
            </a:pPr>
            <a:r>
              <a:rPr sz="1250" b="1" i="0">
                <a:solidFill>
                  <a:srgbClr val="E0464C"/>
                </a:solidFill>
                <a:latin typeface="Segoe UI"/>
              </a:rPr>
              <a:t>SOS arrives 4.4 times faster</a:t>
            </a:r>
          </a:p>
        </p:txBody>
      </p:sp>
      <p:sp>
        <p:nvSpPr>
          <p:cNvPr id="18" name="TextBox 17"/>
          <p:cNvSpPr txBox="1"/>
          <p:nvPr/>
        </p:nvSpPr>
        <p:spPr>
          <a:xfrm>
            <a:off x="548640" y="5349240"/>
            <a:ext cx="11064240" cy="1051560"/>
          </a:xfrm>
          <a:prstGeom prst="rect">
            <a:avLst/>
          </a:prstGeom>
          <a:noFill/>
        </p:spPr>
        <p:txBody>
          <a:bodyPr wrap="square" lIns="0" rIns="0" tIns="0" bIns="0" anchor="t">
            <a:spAutoFit/>
          </a:bodyPr>
          <a:lstStyle/>
          <a:p>
            <a:pPr algn="l">
              <a:lnSpc>
                <a:spcPct val="120000"/>
              </a:lnSpc>
            </a:pPr>
            <a:r>
              <a:rPr sz="1350" b="1" i="0">
                <a:solidFill>
                  <a:srgbClr val="14181D"/>
                </a:solidFill>
                <a:latin typeface="Segoe UI"/>
              </a:rPr>
              <a:t>Fully met: </a:t>
            </a:r>
            <a:r>
              <a:rPr sz="1350" b="0" i="0">
                <a:solidFill>
                  <a:srgbClr val="14181D"/>
                </a:solidFill>
                <a:latin typeface="Segoe UI"/>
              </a:rPr>
              <a:t>K1, K4, K5, K6, K7, K8, K10.   </a:t>
            </a:r>
            <a:r>
              <a:rPr sz="1350" b="1" i="0">
                <a:solidFill>
                  <a:srgbClr val="14181D"/>
                </a:solidFill>
                <a:latin typeface="Segoe UI"/>
              </a:rPr>
              <a:t>Partly met: </a:t>
            </a:r>
            <a:r>
              <a:rPr sz="1350" b="0" i="0">
                <a:solidFill>
                  <a:srgbClr val="14181D"/>
                </a:solidFill>
                <a:latin typeface="Segoe UI"/>
              </a:rPr>
              <a:t>K2 convergence; K3 recovery after relay death; K9 correctness.</a:t>
            </a:r>
          </a:p>
          <a:p>
            <a:pPr algn="l">
              <a:lnSpc>
                <a:spcPct val="120000"/>
              </a:lnSpc>
            </a:pPr>
            <a:r>
              <a:rPr sz="1350" b="0" i="0">
                <a:solidFill>
                  <a:srgbClr val="4D5864"/>
                </a:solidFill>
                <a:latin typeface="Segoe UI"/>
              </a:rPr>
              <a:t>Delivery was 92.6% on a 40-node mesh at 20% loss with failures injected (target 90%). Recovery after a relay dies is quantised by the 10 s heartbeat; at 20% loss delivery is 92.9% at 50 nodes and 83.1% at 65.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PHASE IV  ·  P3 REPORT</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A report whose numbers come from the code</a:t>
            </a:r>
          </a:p>
        </p:txBody>
      </p:sp>
      <p:cxnSp>
        <p:nvCxnSpPr>
          <p:cNvPr id="4" name="Connector 3"/>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6" name="TextBox 5"/>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12 / 14</a:t>
            </a:r>
          </a:p>
        </p:txBody>
      </p:sp>
      <p:sp>
        <p:nvSpPr>
          <p:cNvPr id="7" name="Rounded Rectangle 6"/>
          <p:cNvSpPr/>
          <p:nvPr/>
        </p:nvSpPr>
        <p:spPr>
          <a:xfrm>
            <a:off x="548640" y="1600200"/>
            <a:ext cx="361188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3200400" cy="822960"/>
          </a:xfrm>
          <a:prstGeom prst="rect">
            <a:avLst/>
          </a:prstGeom>
          <a:noFill/>
        </p:spPr>
        <p:txBody>
          <a:bodyPr wrap="square" lIns="0" rIns="0" tIns="0" bIns="0" anchor="t">
            <a:spAutoFit/>
          </a:bodyPr>
          <a:lstStyle/>
          <a:p>
            <a:pPr algn="l">
              <a:lnSpc>
                <a:spcPct val="110000"/>
              </a:lnSpc>
            </a:pPr>
            <a:r>
              <a:rPr sz="4400" b="1" i="0">
                <a:solidFill>
                  <a:srgbClr val="5B9CF0"/>
                </a:solidFill>
                <a:latin typeface="Segoe UI"/>
              </a:rPr>
              <a:t>40</a:t>
            </a:r>
          </a:p>
        </p:txBody>
      </p:sp>
      <p:sp>
        <p:nvSpPr>
          <p:cNvPr id="9" name="TextBox 8"/>
          <p:cNvSpPr txBox="1"/>
          <p:nvPr/>
        </p:nvSpPr>
        <p:spPr>
          <a:xfrm>
            <a:off x="777240" y="2606040"/>
            <a:ext cx="3200400" cy="548640"/>
          </a:xfrm>
          <a:prstGeom prst="rect">
            <a:avLst/>
          </a:prstGeom>
          <a:noFill/>
        </p:spPr>
        <p:txBody>
          <a:bodyPr wrap="square" lIns="0" rIns="0" tIns="0" bIns="0" anchor="t">
            <a:spAutoFit/>
          </a:bodyPr>
          <a:lstStyle/>
          <a:p>
            <a:pPr algn="l">
              <a:lnSpc>
                <a:spcPct val="110000"/>
              </a:lnSpc>
            </a:pPr>
            <a:r>
              <a:rPr sz="1300" b="0" i="0">
                <a:solidFill>
                  <a:srgbClr val="4D5864"/>
                </a:solidFill>
                <a:latin typeface="Segoe UI"/>
              </a:rPr>
              <a:t>pages in the final PDF, 11 chapters</a:t>
            </a:r>
          </a:p>
        </p:txBody>
      </p:sp>
      <p:sp>
        <p:nvSpPr>
          <p:cNvPr id="10" name="Rounded Rectangle 9"/>
          <p:cNvSpPr/>
          <p:nvPr/>
        </p:nvSpPr>
        <p:spPr>
          <a:xfrm>
            <a:off x="4297679" y="1600200"/>
            <a:ext cx="361188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1719072"/>
            <a:ext cx="3200400" cy="822960"/>
          </a:xfrm>
          <a:prstGeom prst="rect">
            <a:avLst/>
          </a:prstGeom>
          <a:noFill/>
        </p:spPr>
        <p:txBody>
          <a:bodyPr wrap="square" lIns="0" rIns="0" tIns="0" bIns="0" anchor="t">
            <a:spAutoFit/>
          </a:bodyPr>
          <a:lstStyle/>
          <a:p>
            <a:pPr algn="l">
              <a:lnSpc>
                <a:spcPct val="110000"/>
              </a:lnSpc>
            </a:pPr>
            <a:r>
              <a:rPr sz="4400" b="1" i="0">
                <a:solidFill>
                  <a:srgbClr val="5B9CF0"/>
                </a:solidFill>
                <a:latin typeface="Segoe UI"/>
              </a:rPr>
              <a:t>68</a:t>
            </a:r>
          </a:p>
        </p:txBody>
      </p:sp>
      <p:sp>
        <p:nvSpPr>
          <p:cNvPr id="12" name="TextBox 11"/>
          <p:cNvSpPr txBox="1"/>
          <p:nvPr/>
        </p:nvSpPr>
        <p:spPr>
          <a:xfrm>
            <a:off x="4526279" y="2606040"/>
            <a:ext cx="3200400" cy="548640"/>
          </a:xfrm>
          <a:prstGeom prst="rect">
            <a:avLst/>
          </a:prstGeom>
          <a:noFill/>
        </p:spPr>
        <p:txBody>
          <a:bodyPr wrap="square" lIns="0" rIns="0" tIns="0" bIns="0" anchor="t">
            <a:spAutoFit/>
          </a:bodyPr>
          <a:lstStyle/>
          <a:p>
            <a:pPr algn="l">
              <a:lnSpc>
                <a:spcPct val="110000"/>
              </a:lnSpc>
            </a:pPr>
            <a:r>
              <a:rPr sz="1300" b="0" i="0">
                <a:solidFill>
                  <a:srgbClr val="4D5864"/>
                </a:solidFill>
                <a:latin typeface="Segoe UI"/>
              </a:rPr>
              <a:t>requirements traced in the report's tables</a:t>
            </a:r>
          </a:p>
        </p:txBody>
      </p:sp>
      <p:sp>
        <p:nvSpPr>
          <p:cNvPr id="13" name="Rounded Rectangle 12"/>
          <p:cNvSpPr/>
          <p:nvPr/>
        </p:nvSpPr>
        <p:spPr>
          <a:xfrm>
            <a:off x="8046719" y="1600200"/>
            <a:ext cx="3611880" cy="160020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719072"/>
            <a:ext cx="3200400" cy="822960"/>
          </a:xfrm>
          <a:prstGeom prst="rect">
            <a:avLst/>
          </a:prstGeom>
          <a:noFill/>
        </p:spPr>
        <p:txBody>
          <a:bodyPr wrap="square" lIns="0" rIns="0" tIns="0" bIns="0" anchor="t">
            <a:spAutoFit/>
          </a:bodyPr>
          <a:lstStyle/>
          <a:p>
            <a:pPr algn="l">
              <a:lnSpc>
                <a:spcPct val="110000"/>
              </a:lnSpc>
            </a:pPr>
            <a:r>
              <a:rPr sz="4400" b="1" i="0">
                <a:solidFill>
                  <a:srgbClr val="5B9CF0"/>
                </a:solidFill>
                <a:latin typeface="Segoe UI"/>
              </a:rPr>
              <a:t>10</a:t>
            </a:r>
          </a:p>
        </p:txBody>
      </p:sp>
      <p:sp>
        <p:nvSpPr>
          <p:cNvPr id="15" name="TextBox 14"/>
          <p:cNvSpPr txBox="1"/>
          <p:nvPr/>
        </p:nvSpPr>
        <p:spPr>
          <a:xfrm>
            <a:off x="8275319" y="2606040"/>
            <a:ext cx="3200400" cy="548640"/>
          </a:xfrm>
          <a:prstGeom prst="rect">
            <a:avLst/>
          </a:prstGeom>
          <a:noFill/>
        </p:spPr>
        <p:txBody>
          <a:bodyPr wrap="square" lIns="0" rIns="0" tIns="0" bIns="0" anchor="t">
            <a:spAutoFit/>
          </a:bodyPr>
          <a:lstStyle/>
          <a:p>
            <a:pPr algn="l">
              <a:lnSpc>
                <a:spcPct val="110000"/>
              </a:lnSpc>
            </a:pPr>
            <a:r>
              <a:rPr sz="1300" b="0" i="0">
                <a:solidFill>
                  <a:srgbClr val="4D5864"/>
                </a:solidFill>
                <a:latin typeface="Segoe UI"/>
              </a:rPr>
              <a:t>target metrics, each validated against stored data</a:t>
            </a:r>
          </a:p>
        </p:txBody>
      </p:sp>
      <p:sp>
        <p:nvSpPr>
          <p:cNvPr id="16" name="TextBox 15"/>
          <p:cNvSpPr txBox="1"/>
          <p:nvPr/>
        </p:nvSpPr>
        <p:spPr>
          <a:xfrm>
            <a:off x="548640" y="3520440"/>
            <a:ext cx="11064240" cy="2743200"/>
          </a:xfrm>
          <a:prstGeom prst="rect">
            <a:avLst/>
          </a:prstGeom>
          <a:noFill/>
        </p:spPr>
        <p:txBody>
          <a:bodyPr wrap="square" lIns="0" rIns="0" tIns="0" bIns="0">
            <a:spAutoFit/>
          </a:bodyPr>
          <a:lstStyle/>
          <a:p>
            <a:pPr marL="201168" indent="-201168">
              <a:lnSpc>
                <a:spcPct val="108000"/>
              </a:lnSpc>
              <a:spcAft>
                <a:spcPts val="1100"/>
              </a:spcAft>
              <a:buChar char="•"/>
            </a:pPr>
            <a:r>
              <a:rPr sz="1500" b="0">
                <a:solidFill>
                  <a:srgbClr val="14181D"/>
                </a:solidFill>
                <a:latin typeface="Segoe UI"/>
              </a:rPr>
              <a:t>Follows the department template and the Mini Project report guidelines: introduction, literature survey, SRS, design, algorithms, implementation, performance, testing, results, conclusion.</a:t>
            </a:r>
          </a:p>
          <a:p>
            <a:pPr marL="201168" indent="-201168">
              <a:lnSpc>
                <a:spcPct val="108000"/>
              </a:lnSpc>
              <a:spcAft>
                <a:spcPts val="1100"/>
              </a:spcAft>
              <a:buChar char="•"/>
            </a:pPr>
            <a:r>
              <a:rPr sz="1500" b="0">
                <a:solidFill>
                  <a:srgbClr val="14181D"/>
                </a:solidFill>
                <a:latin typeface="Segoe UI"/>
              </a:rPr>
              <a:t>Every number in the chapters on performance, testing and results is generated from stored measurements by scripts in docs/report/evidence, so a change can be re-measured and the tables rebuilt.</a:t>
            </a:r>
          </a:p>
          <a:p>
            <a:pPr marL="201168" indent="-201168">
              <a:lnSpc>
                <a:spcPct val="108000"/>
              </a:lnSpc>
              <a:spcAft>
                <a:spcPts val="1100"/>
              </a:spcAft>
              <a:buChar char="•"/>
            </a:pPr>
            <a:r>
              <a:rPr sz="1500" b="0">
                <a:solidFill>
                  <a:srgbClr val="14181D"/>
                </a:solidFill>
                <a:latin typeface="Segoe UI"/>
              </a:rPr>
              <a:t>A separate testing document covers the functional and non-functional tests in detail, with every test case listed.</a:t>
            </a:r>
          </a:p>
          <a:p>
            <a:pPr marL="201168" indent="-201168">
              <a:lnSpc>
                <a:spcPct val="108000"/>
              </a:lnSpc>
              <a:spcAft>
                <a:spcPts val="1100"/>
              </a:spcAft>
              <a:buChar char="•"/>
            </a:pPr>
            <a:r>
              <a:rPr sz="1500" b="0">
                <a:solidFill>
                  <a:srgbClr val="14181D"/>
                </a:solidFill>
                <a:latin typeface="Segoe UI"/>
              </a:rPr>
              <a:t>A one-page poster summarises the problem, the architecture, the key results and the limits, with a QR code to the repository.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pPr>
            <a:r>
              <a:rPr sz="1100" b="1" i="0">
                <a:solidFill>
                  <a:srgbClr val="4D5864"/>
                </a:solidFill>
                <a:latin typeface="Segoe UI"/>
              </a:rPr>
              <a:t>HONEST LIMITS</a:t>
            </a:r>
          </a:p>
        </p:txBody>
      </p:sp>
      <p:sp>
        <p:nvSpPr>
          <p:cNvPr id="3" name="TextBox 2"/>
          <p:cNvSpPr txBox="1"/>
          <p:nvPr/>
        </p:nvSpPr>
        <p:spPr>
          <a:xfrm>
            <a:off x="548640" y="640080"/>
            <a:ext cx="11064240" cy="640080"/>
          </a:xfrm>
          <a:prstGeom prst="rect">
            <a:avLst/>
          </a:prstGeom>
          <a:noFill/>
        </p:spPr>
        <p:txBody>
          <a:bodyPr wrap="square" lIns="0" rIns="0" tIns="0" bIns="0" anchor="t">
            <a:spAutoFit/>
          </a:bodyPr>
          <a:lstStyle/>
          <a:p>
            <a:pPr algn="l">
              <a:lnSpc>
                <a:spcPct val="110000"/>
              </a:lnSpc>
            </a:pPr>
            <a:r>
              <a:rPr sz="2800" b="1" i="0">
                <a:solidFill>
                  <a:srgbClr val="14181D"/>
                </a:solidFill>
                <a:latin typeface="Segoe UI"/>
              </a:rPr>
              <a:t>What this is, and what it is not</a:t>
            </a:r>
          </a:p>
        </p:txBody>
      </p:sp>
      <p:cxnSp>
        <p:nvCxnSpPr>
          <p:cNvPr id="4" name="Connector 3"/>
          <p:cNvCxnSpPr/>
          <p:nvPr/>
        </p:nvCxnSpPr>
        <p:spPr>
          <a:xfrm>
            <a:off x="548640" y="6400800"/>
            <a:ext cx="11091672" cy="0"/>
          </a:xfrm>
          <a:prstGeom prst="line">
            <a:avLst/>
          </a:prstGeom>
          <a:ln w="9525">
            <a:solidFill>
              <a:srgbClr val="D5DB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5486400" cy="256032"/>
          </a:xfrm>
          <a:prstGeom prst="rect">
            <a:avLst/>
          </a:prstGeom>
          <a:noFill/>
        </p:spPr>
        <p:txBody>
          <a:bodyPr wrap="square" lIns="0" rIns="0" tIns="0" bIns="0" anchor="t">
            <a:spAutoFit/>
          </a:bodyPr>
          <a:lstStyle/>
          <a:p>
            <a:pPr algn="l">
              <a:lnSpc>
                <a:spcPct val="110000"/>
              </a:lnSpc>
            </a:pPr>
            <a:r>
              <a:rPr sz="1000" b="0" i="0">
                <a:solidFill>
                  <a:srgbClr val="9AA4B0"/>
                </a:solidFill>
                <a:latin typeface="Segoe UI"/>
              </a:rPr>
              <a:t>EcoMesh  ·  Group 20  ·  Phase III and IV</a:t>
            </a:r>
          </a:p>
        </p:txBody>
      </p:sp>
      <p:sp>
        <p:nvSpPr>
          <p:cNvPr id="6" name="TextBox 5"/>
          <p:cNvSpPr txBox="1"/>
          <p:nvPr/>
        </p:nvSpPr>
        <p:spPr>
          <a:xfrm>
            <a:off x="9784080" y="6473952"/>
            <a:ext cx="1856231" cy="256032"/>
          </a:xfrm>
          <a:prstGeom prst="rect">
            <a:avLst/>
          </a:prstGeom>
          <a:noFill/>
        </p:spPr>
        <p:txBody>
          <a:bodyPr wrap="square" lIns="0" rIns="0" tIns="0" bIns="0" anchor="t">
            <a:spAutoFit/>
          </a:bodyPr>
          <a:lstStyle/>
          <a:p>
            <a:pPr algn="r">
              <a:lnSpc>
                <a:spcPct val="110000"/>
              </a:lnSpc>
            </a:pPr>
            <a:r>
              <a:rPr sz="1000" b="0" i="0">
                <a:solidFill>
                  <a:srgbClr val="9AA4B0"/>
                </a:solidFill>
                <a:latin typeface="Segoe UI"/>
              </a:rPr>
              <a:t>13 / 14</a:t>
            </a:r>
          </a:p>
        </p:txBody>
      </p:sp>
      <p:sp>
        <p:nvSpPr>
          <p:cNvPr id="7" name="Rounded Rectangle 6"/>
          <p:cNvSpPr/>
          <p:nvPr/>
        </p:nvSpPr>
        <p:spPr>
          <a:xfrm>
            <a:off x="548640" y="1600200"/>
            <a:ext cx="5440680" cy="22402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64792"/>
            <a:ext cx="4983480"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A measured prototype</a:t>
            </a:r>
          </a:p>
        </p:txBody>
      </p:sp>
      <p:sp>
        <p:nvSpPr>
          <p:cNvPr id="9" name="TextBox 8"/>
          <p:cNvSpPr txBox="1"/>
          <p:nvPr/>
        </p:nvSpPr>
        <p:spPr>
          <a:xfrm>
            <a:off x="777240" y="2167128"/>
            <a:ext cx="4983480" cy="1554480"/>
          </a:xfrm>
          <a:prstGeom prst="rect">
            <a:avLst/>
          </a:prstGeom>
          <a:noFill/>
        </p:spPr>
        <p:txBody>
          <a:bodyPr wrap="square" lIns="0" rIns="0" tIns="0" bIns="0" anchor="t">
            <a:spAutoFit/>
          </a:bodyPr>
          <a:lstStyle/>
          <a:p>
            <a:pPr algn="l">
              <a:lnSpc>
                <a:spcPct val="115000"/>
              </a:lnSpc>
            </a:pPr>
            <a:r>
              <a:rPr sz="1500" b="0" i="0">
                <a:solidFill>
                  <a:srgbClr val="4D5864"/>
                </a:solidFill>
                <a:latin typeface="Segoe UI"/>
              </a:rPr>
              <a:t>We built and measured the routing and reliability layer; it is not a finished product. The radio is emulated over TCP. A real build needs a Bluetooth or Wi-Fi Direct transport, and the transport interface is built for that swap.</a:t>
            </a:r>
          </a:p>
        </p:txBody>
      </p:sp>
      <p:sp>
        <p:nvSpPr>
          <p:cNvPr id="10" name="Rounded Rectangle 9"/>
          <p:cNvSpPr/>
          <p:nvPr/>
        </p:nvSpPr>
        <p:spPr>
          <a:xfrm>
            <a:off x="6199632" y="1600200"/>
            <a:ext cx="5440680" cy="224028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764792"/>
            <a:ext cx="4983480"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Not built</a:t>
            </a:r>
          </a:p>
        </p:txBody>
      </p:sp>
      <p:sp>
        <p:nvSpPr>
          <p:cNvPr id="12" name="TextBox 11"/>
          <p:cNvSpPr txBox="1"/>
          <p:nvPr/>
        </p:nvSpPr>
        <p:spPr>
          <a:xfrm>
            <a:off x="6428232" y="2167128"/>
            <a:ext cx="4983480" cy="1554480"/>
          </a:xfrm>
          <a:prstGeom prst="rect">
            <a:avLst/>
          </a:prstGeom>
          <a:noFill/>
        </p:spPr>
        <p:txBody>
          <a:bodyPr wrap="square" lIns="0" rIns="0" tIns="0" bIns="0" anchor="t">
            <a:spAutoFit/>
          </a:bodyPr>
          <a:lstStyle/>
          <a:p>
            <a:pPr algn="l">
              <a:lnSpc>
                <a:spcPct val="115000"/>
              </a:lnSpc>
            </a:pPr>
            <a:r>
              <a:rPr sz="1500" b="0" i="0">
                <a:solidFill>
                  <a:srgbClr val="4D5864"/>
                </a:solidFill>
                <a:latin typeface="Segoe UI"/>
              </a:rPr>
              <a:t>There is no real phone app: a phone only shows a web page served by a laptop. One shared key protects the whole mesh, so any key holder could read forwarded messages. Per-pair keys are future work.</a:t>
            </a:r>
          </a:p>
        </p:txBody>
      </p:sp>
      <p:sp>
        <p:nvSpPr>
          <p:cNvPr id="13" name="Rounded Rectangle 12"/>
          <p:cNvSpPr/>
          <p:nvPr/>
        </p:nvSpPr>
        <p:spPr>
          <a:xfrm>
            <a:off x="548640" y="4023360"/>
            <a:ext cx="5440680" cy="219456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187952"/>
            <a:ext cx="4983480"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Tried and dropped</a:t>
            </a:r>
          </a:p>
        </p:txBody>
      </p:sp>
      <p:sp>
        <p:nvSpPr>
          <p:cNvPr id="15" name="TextBox 14"/>
          <p:cNvSpPr txBox="1"/>
          <p:nvPr/>
        </p:nvSpPr>
        <p:spPr>
          <a:xfrm>
            <a:off x="777240" y="4590288"/>
            <a:ext cx="4983480" cy="1508760"/>
          </a:xfrm>
          <a:prstGeom prst="rect">
            <a:avLst/>
          </a:prstGeom>
          <a:noFill/>
        </p:spPr>
        <p:txBody>
          <a:bodyPr wrap="square" lIns="0" rIns="0" tIns="0" bIns="0" anchor="t">
            <a:spAutoFit/>
          </a:bodyPr>
          <a:lstStyle/>
          <a:p>
            <a:pPr algn="l">
              <a:lnSpc>
                <a:spcPct val="115000"/>
              </a:lnSpc>
            </a:pPr>
            <a:r>
              <a:rPr sz="1500" b="0" i="0">
                <a:solidFill>
                  <a:srgbClr val="4D5864"/>
                </a:solidFill>
                <a:latin typeface="Segoe UI"/>
              </a:rPr>
              <a:t>A faster failure detector (neighbour timeout of about 7 s instead of 10 s) was tried to improve recovery time. It lowered delivery at 20% loss, so we kept 10 s and report recovery time as partly met.</a:t>
            </a:r>
          </a:p>
        </p:txBody>
      </p:sp>
      <p:sp>
        <p:nvSpPr>
          <p:cNvPr id="16" name="Rounded Rectangle 15"/>
          <p:cNvSpPr/>
          <p:nvPr/>
        </p:nvSpPr>
        <p:spPr>
          <a:xfrm>
            <a:off x="6199632" y="4023360"/>
            <a:ext cx="5440680" cy="2194560"/>
          </a:xfrm>
          <a:prstGeom prst="roundRect">
            <a:avLst>
              <a:gd name="adj" fmla="val 6000"/>
            </a:avLst>
          </a:prstGeom>
          <a:solidFill>
            <a:srgbClr val="F3F5F8"/>
          </a:solidFill>
          <a:ln w="9525">
            <a:solidFill>
              <a:srgbClr val="D5DB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4187952"/>
            <a:ext cx="4983480" cy="320040"/>
          </a:xfrm>
          <a:prstGeom prst="rect">
            <a:avLst/>
          </a:prstGeom>
          <a:noFill/>
        </p:spPr>
        <p:txBody>
          <a:bodyPr wrap="square" lIns="0" rIns="0" tIns="0" bIns="0" anchor="t">
            <a:spAutoFit/>
          </a:bodyPr>
          <a:lstStyle/>
          <a:p>
            <a:pPr algn="l">
              <a:lnSpc>
                <a:spcPct val="110000"/>
              </a:lnSpc>
            </a:pPr>
            <a:r>
              <a:rPr sz="1500" b="1" i="0">
                <a:solidFill>
                  <a:srgbClr val="14181D"/>
                </a:solidFill>
                <a:latin typeface="Segoe UI"/>
              </a:rPr>
              <a:t>Measured, not assumed</a:t>
            </a:r>
          </a:p>
        </p:txBody>
      </p:sp>
      <p:sp>
        <p:nvSpPr>
          <p:cNvPr id="18" name="TextBox 17"/>
          <p:cNvSpPr txBox="1"/>
          <p:nvPr/>
        </p:nvSpPr>
        <p:spPr>
          <a:xfrm>
            <a:off x="6428232" y="4590288"/>
            <a:ext cx="4983480" cy="1508760"/>
          </a:xfrm>
          <a:prstGeom prst="rect">
            <a:avLst/>
          </a:prstGeom>
          <a:noFill/>
        </p:spPr>
        <p:txBody>
          <a:bodyPr wrap="square" lIns="0" rIns="0" tIns="0" bIns="0" anchor="t">
            <a:spAutoFit/>
          </a:bodyPr>
          <a:lstStyle/>
          <a:p>
            <a:pPr algn="l">
              <a:lnSpc>
                <a:spcPct val="115000"/>
              </a:lnSpc>
            </a:pPr>
            <a:r>
              <a:rPr sz="1500" b="0" i="0">
                <a:solidFill>
                  <a:srgbClr val="4D5864"/>
                </a:solidFill>
                <a:latin typeface="Segoe UI"/>
              </a:rPr>
              <a:t>All timings come from one machine, and scale was tested to 65 simulated nodes. No timed usability study with participants has been done.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114"/>
        </a:solidFill>
        <a:effectLst/>
      </p:bgPr>
    </p:bg>
    <p:spTree>
      <p:nvGrpSpPr>
        <p:cNvPr id="1" name=""/>
        <p:cNvGrpSpPr/>
        <p:nvPr/>
      </p:nvGrpSpPr>
      <p:grpSpPr/>
      <p:sp>
        <p:nvSpPr>
          <p:cNvPr id="2" name="TextBox 1"/>
          <p:cNvSpPr txBox="1"/>
          <p:nvPr/>
        </p:nvSpPr>
        <p:spPr>
          <a:xfrm>
            <a:off x="731520" y="640080"/>
            <a:ext cx="8229600" cy="274320"/>
          </a:xfrm>
          <a:prstGeom prst="rect">
            <a:avLst/>
          </a:prstGeom>
          <a:noFill/>
        </p:spPr>
        <p:txBody>
          <a:bodyPr wrap="square" lIns="0" rIns="0" tIns="0" bIns="0" anchor="t">
            <a:spAutoFit/>
          </a:bodyPr>
          <a:lstStyle/>
          <a:p>
            <a:pPr algn="l">
              <a:lnSpc>
                <a:spcPct val="110000"/>
              </a:lnSpc>
            </a:pPr>
            <a:r>
              <a:rPr sz="1200" b="1" i="0">
                <a:solidFill>
                  <a:srgbClr val="A6AFB9"/>
                </a:solidFill>
                <a:latin typeface="Segoe UI"/>
              </a:rPr>
              <a:t>TEAM AND QUESTIONS</a:t>
            </a:r>
          </a:p>
        </p:txBody>
      </p:sp>
      <p:sp>
        <p:nvSpPr>
          <p:cNvPr id="3" name="TextBox 2"/>
          <p:cNvSpPr txBox="1"/>
          <p:nvPr/>
        </p:nvSpPr>
        <p:spPr>
          <a:xfrm>
            <a:off x="731520" y="1051560"/>
            <a:ext cx="8229600" cy="822960"/>
          </a:xfrm>
          <a:prstGeom prst="rect">
            <a:avLst/>
          </a:prstGeom>
          <a:noFill/>
        </p:spPr>
        <p:txBody>
          <a:bodyPr wrap="square" lIns="0" rIns="0" tIns="0" bIns="0" anchor="t">
            <a:spAutoFit/>
          </a:bodyPr>
          <a:lstStyle/>
          <a:p>
            <a:pPr algn="l">
              <a:lnSpc>
                <a:spcPct val="110000"/>
              </a:lnSpc>
            </a:pPr>
            <a:r>
              <a:rPr sz="4400" b="1" i="0">
                <a:solidFill>
                  <a:srgbClr val="EEF1F4"/>
                </a:solidFill>
                <a:latin typeface="Segoe UI"/>
              </a:rPr>
              <a:t>Thank you</a:t>
            </a:r>
          </a:p>
        </p:txBody>
      </p:sp>
      <p:sp>
        <p:nvSpPr>
          <p:cNvPr id="4" name="TextBox 3"/>
          <p:cNvSpPr txBox="1"/>
          <p:nvPr/>
        </p:nvSpPr>
        <p:spPr>
          <a:xfrm>
            <a:off x="731520" y="2331720"/>
            <a:ext cx="2194560" cy="365760"/>
          </a:xfrm>
          <a:prstGeom prst="rect">
            <a:avLst/>
          </a:prstGeom>
          <a:noFill/>
        </p:spPr>
        <p:txBody>
          <a:bodyPr wrap="square" lIns="0" rIns="0" tIns="0" bIns="0" anchor="t">
            <a:spAutoFit/>
          </a:bodyPr>
          <a:lstStyle/>
          <a:p>
            <a:pPr algn="l">
              <a:lnSpc>
                <a:spcPct val="110000"/>
              </a:lnSpc>
            </a:pPr>
            <a:r>
              <a:rPr sz="1700" b="1" i="0">
                <a:solidFill>
                  <a:srgbClr val="EEF1F4"/>
                </a:solidFill>
                <a:latin typeface="Segoe UI"/>
              </a:rPr>
              <a:t>Twissha Shah</a:t>
            </a:r>
          </a:p>
        </p:txBody>
      </p:sp>
      <p:sp>
        <p:nvSpPr>
          <p:cNvPr id="5" name="TextBox 4"/>
          <p:cNvSpPr txBox="1"/>
          <p:nvPr/>
        </p:nvSpPr>
        <p:spPr>
          <a:xfrm>
            <a:off x="2926080" y="2359151"/>
            <a:ext cx="5120640" cy="822960"/>
          </a:xfrm>
          <a:prstGeom prst="rect">
            <a:avLst/>
          </a:prstGeom>
          <a:noFill/>
        </p:spPr>
        <p:txBody>
          <a:bodyPr wrap="square" lIns="0" rIns="0" tIns="0" bIns="0" anchor="t">
            <a:spAutoFit/>
          </a:bodyPr>
          <a:lstStyle/>
          <a:p>
            <a:pPr algn="l">
              <a:lnSpc>
                <a:spcPct val="115000"/>
              </a:lnSpc>
            </a:pPr>
            <a:r>
              <a:rPr sz="1350" b="0" i="0">
                <a:solidFill>
                  <a:srgbClr val="A6AFB9"/>
                </a:solidFill>
                <a:latin typeface="Segoe UI"/>
              </a:rPr>
              <a:t>Link-state gossip and cost function, node integration, the device app and multi-device demo, parser hardening, report evidence</a:t>
            </a:r>
          </a:p>
        </p:txBody>
      </p:sp>
      <p:sp>
        <p:nvSpPr>
          <p:cNvPr id="6" name="TextBox 5"/>
          <p:cNvSpPr txBox="1"/>
          <p:nvPr/>
        </p:nvSpPr>
        <p:spPr>
          <a:xfrm>
            <a:off x="731520" y="3355848"/>
            <a:ext cx="2194560" cy="365760"/>
          </a:xfrm>
          <a:prstGeom prst="rect">
            <a:avLst/>
          </a:prstGeom>
          <a:noFill/>
        </p:spPr>
        <p:txBody>
          <a:bodyPr wrap="square" lIns="0" rIns="0" tIns="0" bIns="0" anchor="t">
            <a:spAutoFit/>
          </a:bodyPr>
          <a:lstStyle/>
          <a:p>
            <a:pPr algn="l">
              <a:lnSpc>
                <a:spcPct val="110000"/>
              </a:lnSpc>
            </a:pPr>
            <a:r>
              <a:rPr sz="1700" b="1" i="0">
                <a:solidFill>
                  <a:srgbClr val="EEF1F4"/>
                </a:solidFill>
                <a:latin typeface="Segoe UI"/>
              </a:rPr>
              <a:t>Miti Shah</a:t>
            </a:r>
          </a:p>
        </p:txBody>
      </p:sp>
      <p:sp>
        <p:nvSpPr>
          <p:cNvPr id="7" name="TextBox 6"/>
          <p:cNvSpPr txBox="1"/>
          <p:nvPr/>
        </p:nvSpPr>
        <p:spPr>
          <a:xfrm>
            <a:off x="2926080" y="3383279"/>
            <a:ext cx="5120640" cy="822960"/>
          </a:xfrm>
          <a:prstGeom prst="rect">
            <a:avLst/>
          </a:prstGeom>
          <a:noFill/>
        </p:spPr>
        <p:txBody>
          <a:bodyPr wrap="square" lIns="0" rIns="0" tIns="0" bIns="0" anchor="t">
            <a:spAutoFit/>
          </a:bodyPr>
          <a:lstStyle/>
          <a:p>
            <a:pPr algn="l">
              <a:lnSpc>
                <a:spcPct val="115000"/>
              </a:lnSpc>
            </a:pPr>
            <a:r>
              <a:rPr sz="1350" b="0" i="0">
                <a:solidFill>
                  <a:srgbClr val="A6AFB9"/>
                </a:solidFill>
                <a:latin typeface="Segoe UI"/>
              </a:rPr>
              <a:t>Discovery, relay, Dijkstra, reliability, security, SQLite log, and the device server endpoints</a:t>
            </a:r>
          </a:p>
        </p:txBody>
      </p:sp>
      <p:sp>
        <p:nvSpPr>
          <p:cNvPr id="8" name="TextBox 7"/>
          <p:cNvSpPr txBox="1"/>
          <p:nvPr/>
        </p:nvSpPr>
        <p:spPr>
          <a:xfrm>
            <a:off x="731520" y="4379976"/>
            <a:ext cx="2194560" cy="365760"/>
          </a:xfrm>
          <a:prstGeom prst="rect">
            <a:avLst/>
          </a:prstGeom>
          <a:noFill/>
        </p:spPr>
        <p:txBody>
          <a:bodyPr wrap="square" lIns="0" rIns="0" tIns="0" bIns="0" anchor="t">
            <a:spAutoFit/>
          </a:bodyPr>
          <a:lstStyle/>
          <a:p>
            <a:pPr algn="l">
              <a:lnSpc>
                <a:spcPct val="110000"/>
              </a:lnSpc>
            </a:pPr>
            <a:r>
              <a:rPr sz="1700" b="1" i="0">
                <a:solidFill>
                  <a:srgbClr val="EEF1F4"/>
                </a:solidFill>
                <a:latin typeface="Segoe UI"/>
              </a:rPr>
              <a:t>Tanvi Sheth</a:t>
            </a:r>
          </a:p>
        </p:txBody>
      </p:sp>
      <p:sp>
        <p:nvSpPr>
          <p:cNvPr id="9" name="TextBox 8"/>
          <p:cNvSpPr txBox="1"/>
          <p:nvPr/>
        </p:nvSpPr>
        <p:spPr>
          <a:xfrm>
            <a:off x="2926080" y="4407408"/>
            <a:ext cx="5120640" cy="822960"/>
          </a:xfrm>
          <a:prstGeom prst="rect">
            <a:avLst/>
          </a:prstGeom>
          <a:noFill/>
        </p:spPr>
        <p:txBody>
          <a:bodyPr wrap="square" lIns="0" rIns="0" tIns="0" bIns="0" anchor="t">
            <a:spAutoFit/>
          </a:bodyPr>
          <a:lstStyle/>
          <a:p>
            <a:pPr algn="l">
              <a:lnSpc>
                <a:spcPct val="115000"/>
              </a:lnSpc>
            </a:pPr>
            <a:r>
              <a:rPr sz="1350" b="0" i="0">
                <a:solidFill>
                  <a:srgbClr val="A6AFB9"/>
                </a:solidFill>
                <a:latin typeface="Segoe UI"/>
              </a:rPr>
              <a:t>Packet format and transport, API, simulation lab, testing documents, deck and poster</a:t>
            </a:r>
          </a:p>
        </p:txBody>
      </p:sp>
      <p:cxnSp>
        <p:nvCxnSpPr>
          <p:cNvPr id="10" name="Connector 9"/>
          <p:cNvCxnSpPr/>
          <p:nvPr/>
        </p:nvCxnSpPr>
        <p:spPr>
          <a:xfrm>
            <a:off x="731520" y="5623560"/>
            <a:ext cx="7315200" cy="0"/>
          </a:xfrm>
          <a:prstGeom prst="line">
            <a:avLst/>
          </a:prstGeom>
          <a:ln w="12700">
            <a:solidFill>
              <a:srgbClr val="2A303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5760720"/>
            <a:ext cx="7315200" cy="320040"/>
          </a:xfrm>
          <a:prstGeom prst="rect">
            <a:avLst/>
          </a:prstGeom>
          <a:noFill/>
        </p:spPr>
        <p:txBody>
          <a:bodyPr wrap="square" lIns="0" rIns="0" tIns="0" bIns="0" anchor="t">
            <a:spAutoFit/>
          </a:bodyPr>
          <a:lstStyle/>
          <a:p>
            <a:pPr algn="l">
              <a:lnSpc>
                <a:spcPct val="110000"/>
              </a:lnSpc>
            </a:pPr>
            <a:r>
              <a:rPr sz="1400" b="0" i="0">
                <a:solidFill>
                  <a:srgbClr val="5B9CF0"/>
                </a:solidFill>
                <a:latin typeface="Segoe UI"/>
              </a:rPr>
              <a:t>https://github.com/tanvisheth1234-wq/miniproject</a:t>
            </a:r>
          </a:p>
        </p:txBody>
      </p:sp>
      <p:sp>
        <p:nvSpPr>
          <p:cNvPr id="12" name="TextBox 11"/>
          <p:cNvSpPr txBox="1"/>
          <p:nvPr/>
        </p:nvSpPr>
        <p:spPr>
          <a:xfrm>
            <a:off x="731520" y="6126480"/>
            <a:ext cx="7315200" cy="274320"/>
          </a:xfrm>
          <a:prstGeom prst="rect">
            <a:avLst/>
          </a:prstGeom>
          <a:noFill/>
        </p:spPr>
        <p:txBody>
          <a:bodyPr wrap="square" lIns="0" rIns="0" tIns="0" bIns="0" anchor="t">
            <a:spAutoFit/>
          </a:bodyPr>
          <a:lstStyle/>
          <a:p>
            <a:pPr algn="l">
              <a:lnSpc>
                <a:spcPct val="110000"/>
              </a:lnSpc>
            </a:pPr>
            <a:r>
              <a:rPr sz="1200" b="0" i="0">
                <a:solidFill>
                  <a:srgbClr val="A6AFB9"/>
                </a:solidFill>
                <a:latin typeface="Segoe UI"/>
              </a:rPr>
              <a:t>Guide: Prof. Anuj Tawari</a:t>
            </a:r>
          </a:p>
        </p:txBody>
      </p:sp>
      <p:pic>
        <p:nvPicPr>
          <p:cNvPr id="13" name="Picture 12" descr="qr.png"/>
          <p:cNvPicPr>
            <a:picLocks noChangeAspect="1"/>
          </p:cNvPicPr>
          <p:nvPr/>
        </p:nvPicPr>
        <p:blipFill>
          <a:blip r:embed="rId2"/>
          <a:stretch>
            <a:fillRect/>
          </a:stretch>
        </p:blipFill>
        <p:spPr>
          <a:xfrm>
            <a:off x="9052560" y="2194560"/>
            <a:ext cx="2468880" cy="2468880"/>
          </a:xfrm>
          <a:prstGeom prst="rect">
            <a:avLst/>
          </a:prstGeom>
        </p:spPr>
      </p:pic>
      <p:sp>
        <p:nvSpPr>
          <p:cNvPr id="14" name="TextBox 13"/>
          <p:cNvSpPr txBox="1"/>
          <p:nvPr/>
        </p:nvSpPr>
        <p:spPr>
          <a:xfrm>
            <a:off x="9052560" y="4800600"/>
            <a:ext cx="2468880" cy="274320"/>
          </a:xfrm>
          <a:prstGeom prst="rect">
            <a:avLst/>
          </a:prstGeom>
          <a:noFill/>
        </p:spPr>
        <p:txBody>
          <a:bodyPr wrap="square" lIns="0" rIns="0" tIns="0" bIns="0" anchor="t">
            <a:spAutoFit/>
          </a:bodyPr>
          <a:lstStyle/>
          <a:p>
            <a:pPr algn="ctr">
              <a:lnSpc>
                <a:spcPct val="110000"/>
              </a:lnSpc>
            </a:pPr>
            <a:r>
              <a:rPr sz="1200" b="0" i="0">
                <a:solidFill>
                  <a:srgbClr val="A6AFB9"/>
                </a:solidFill>
                <a:latin typeface="Segoe UI"/>
              </a:rPr>
              <a:t>Scan for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EcoMesh: Phase III and IV</dc:title>
  <dc:subject>Mini Project I, T.E. Semester V</dc:subject>
  <dc:creator>EcoMesh Group 20</dc:creator>
  <cp:keywords/>
  <dc:description/>
  <cp:lastModifiedBy>EcoMesh Group 20</cp:lastModifiedBy>
  <cp:revision>1</cp:revision>
  <dcterms:created xsi:type="dcterms:W3CDTF">2013-01-27T09:14:16Z</dcterms:created>
  <dcterms:modified xsi:type="dcterms:W3CDTF">2013-01-27T09:15:58Z</dcterms:modified>
  <cp:category/>
</cp:coreProperties>
</file>