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FF5A5F"/>
            </a:solidFill>
          </c:spPr>
          <c:cat>
            <c:strRef>
              <c:f>Sheet1!$A$2:$A$7</c:f>
              <c:strCache>
                <c:ptCount val="6"/>
                <c:pt idx="0">
                  <c:v>feat</c:v>
                </c:pt>
                <c:pt idx="1">
                  <c:v>docs</c:v>
                </c:pt>
                <c:pt idx="2">
                  <c:v>chore</c:v>
                </c:pt>
                <c:pt idx="3">
                  <c:v>fix</c:v>
                </c:pt>
                <c:pt idx="4">
                  <c:v>test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2F4F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548"/>
            </a:solidFill>
          </a:ln>
        </c:spPr>
        <c:txPr>
          <a:bodyPr/>
          <a:lstStyle/>
          <a:p>
            <a:pPr>
              <a:defRPr>
                <a:solidFill>
                  <a:srgbClr val="F2F4F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AA4B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2F4F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%</c:v>
                </c:pt>
              </c:strCache>
            </c:strRef>
          </c:tx>
          <c:dPt>
            <c:idx val="0"/>
            <c:spPr>
              <a:solidFill>
                <a:srgbClr val="9AA4B5"/>
              </a:solidFill>
            </c:spPr>
          </c:dPt>
          <c:dPt>
            <c:idx val="1"/>
            <c:spPr>
              <a:solidFill>
                <a:srgbClr val="5EEAD4"/>
              </a:solidFill>
            </c:spPr>
          </c:dPt>
          <c:cat>
            <c:strRef>
              <c:f>Sheet1!$A$2:$A$3</c:f>
              <c:strCache>
                <c:ptCount val="2"/>
                <c:pt idx="0">
                  <c:v>Hop count</c:v>
                </c:pt>
                <c:pt idx="1">
                  <c:v>Weighted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57.4</c:v>
                </c:pt>
                <c:pt idx="1">
                  <c:v>99.2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600" b="1">
                  <a:solidFill>
                    <a:srgbClr val="F2F4F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48"/>
            </a:solidFill>
          </a:ln>
        </c:spPr>
        <c:txPr>
          <a:bodyPr/>
          <a:lstStyle/>
          <a:p>
            <a:pPr>
              <a:defRPr>
                <a:solidFill>
                  <a:srgbClr val="F2F4F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AA4B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F2F4F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5% loss</c:v>
                </c:pt>
              </c:strCache>
            </c:strRef>
          </c:tx>
          <c:spPr>
            <a:ln w="31750">
              <a:solidFill>
                <a:srgbClr val="5EEAD4"/>
              </a:solidFill>
            </a:ln>
          </c:spPr>
          <c:marker>
            <c:spPr>
              <a:solidFill>
                <a:srgbClr val="5EEAD4"/>
              </a:solidFill>
              <a:ln>
                <a:solidFill>
                  <a:srgbClr val="5EEAD4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21</c:v>
                </c:pt>
                <c:pt idx="2">
                  <c:v>31</c:v>
                </c:pt>
                <c:pt idx="3">
                  <c:v>43</c:v>
                </c:pt>
                <c:pt idx="4">
                  <c:v>50</c:v>
                </c:pt>
                <c:pt idx="5">
                  <c:v>65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98.9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20% loss</c:v>
                </c:pt>
              </c:strCache>
            </c:strRef>
          </c:tx>
          <c:spPr>
            <a:ln w="31750">
              <a:solidFill>
                <a:srgbClr val="FF5A5F"/>
              </a:solidFill>
            </a:ln>
          </c:spPr>
          <c:marker>
            <c:spPr>
              <a:solidFill>
                <a:srgbClr val="FF5A5F"/>
              </a:solidFill>
              <a:ln>
                <a:solidFill>
                  <a:srgbClr val="FF5A5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10</c:v>
                </c:pt>
                <c:pt idx="1">
                  <c:v>21</c:v>
                </c:pt>
                <c:pt idx="2">
                  <c:v>31</c:v>
                </c:pt>
                <c:pt idx="3">
                  <c:v>43</c:v>
                </c:pt>
                <c:pt idx="4">
                  <c:v>50</c:v>
                </c:pt>
                <c:pt idx="5">
                  <c:v>65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100.0</c:v>
                </c:pt>
                <c:pt idx="1">
                  <c:v>97.9</c:v>
                </c:pt>
                <c:pt idx="2">
                  <c:v>95.7</c:v>
                </c:pt>
                <c:pt idx="3">
                  <c:v>95.8</c:v>
                </c:pt>
                <c:pt idx="4">
                  <c:v>88.2</c:v>
                </c:pt>
                <c:pt idx="5">
                  <c:v>86.0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48"/>
            </a:solidFill>
          </a:ln>
        </c:spPr>
        <c:txPr>
          <a:bodyPr/>
          <a:lstStyle/>
          <a:p>
            <a:pPr>
              <a:defRPr>
                <a:solidFill>
                  <a:srgbClr val="F2F4F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0.0"/>
        </c:scaling>
        <c:delete val="0"/>
        <c:axPos val="l"/>
        <c:majorGridlines>
          <c:spPr>
            <a:ln>
              <a:solidFill>
                <a:srgbClr val="2A3548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AA4B5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F2F4F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F2F4F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4F8"/>
                </a:solidFill>
                <a:latin typeface="Arial"/>
              </a:rPr>
              <a:t>MINI PROJECT I · GROUP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5A5F"/>
                </a:solidFill>
                <a:latin typeface="Arial"/>
              </a:rPr>
              <a:t>EcoMesh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2F4F8"/>
                </a:solidFill>
                <a:latin typeface="Arial"/>
              </a:rPr>
              <a:t>Distributed Peer-to-Peer Disaster
Relief Communication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5A5F"/>
                </a:solidFill>
                <a:latin typeface="Arial"/>
              </a:rPr>
              <a:t>PHASE III &amp; IV — MODULE-WISE CODING TO A TESTED, INTEGRATED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114800"/>
            <a:ext cx="10881360" cy="0"/>
          </a:xfrm>
          <a:prstGeom prst="line">
            <a:avLst/>
          </a:prstGeom>
          <a:ln w="1270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2F4F8"/>
                </a:solidFill>
                <a:latin typeface="Arial"/>
              </a:rPr>
              <a:t>Miti Shah  ·  Twissha Shah  ·  Tanvi Sheth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0932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2F4F8"/>
                </a:solidFill>
                <a:latin typeface="Arial"/>
              </a:rPr>
              <a:t>Prof. Anuj Tawari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02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Two phases, six deliverables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02 /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40680" cy="44805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5F"/>
                </a:solidFill>
                <a:latin typeface="Arial"/>
              </a:rPr>
              <a:t>PHASE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5A5F"/>
                </a:solidFill>
                <a:latin typeface="Arial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7743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Arial"/>
              </a:rPr>
              <a:t>Module-wise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3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5A5F"/>
                </a:solidFill>
                <a:latin typeface="Arial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661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Arial"/>
              </a:rPr>
              <a:t>Git repository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5A5F"/>
                </a:solidFill>
                <a:latin typeface="Arial"/>
              </a:rP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54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Arial"/>
              </a:rPr>
              <a:t>Git branching strategy and commit conventions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440680" cy="44805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EAD4"/>
                </a:solidFill>
                <a:latin typeface="Arial"/>
              </a:rPr>
              <a:t>PHASE 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331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EEAD4"/>
                </a:solidFill>
                <a:latin typeface="Arial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7743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Arial"/>
              </a:rPr>
              <a:t>Integration of front-end and back-end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52043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EEAD4"/>
                </a:solidFill>
                <a:latin typeface="Arial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5661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Arial"/>
              </a:rPr>
              <a:t>Functional and non-functional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7091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EEAD4"/>
                </a:solidFill>
                <a:latin typeface="Arial"/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754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2F4F8"/>
                </a:solidFill>
                <a:latin typeface="Arial"/>
              </a:rPr>
              <a:t>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03 · PHASE III · P1 MODULE-WISE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Eleven modules, each with its own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One module per concern in mesh/core/, written and tested in isolation before being wired together.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03 / 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74519"/>
          <a:ext cx="1115567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3625"/>
                <a:gridCol w="849956"/>
                <a:gridCol w="7012141"/>
                <a:gridCol w="849956"/>
              </a:tblGrid>
              <a:tr h="3840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LINES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TESTS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packet.py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52-byte binary header, path, payload, signature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transport · udp · sim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One interface; real sockets or an in-memory radio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discovery.py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HELLO beacons, neighbour table, death detection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relay.py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Forward, deliver, TTL, loop check, priority queue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routing.py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Link-state gossip, weighted cost, Dijkstra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reliability.py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Dedup, priority queue, ACK + retry, store-and-forward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crypto.py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AES-256-GCM payloads, Ed25519 signatures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store.py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SQLite (WAL) message, event and peer log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node.py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Wires every layer into one asyncio node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2F4F8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2,822 lines of engine code  ·  4,547 lines of tests  ·  a test file for every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04 · PHASE III · P1 MODULE-WISE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One message, six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How the modules cooperate when someone sends an SOS.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04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6118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5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PACKET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Builds the 52-byte header: priority 0 (SOS), ttl 10, a random msg_id.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920240"/>
            <a:ext cx="36118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5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6517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Dijkstra over the link-state graph picks the cheapest next hop. RESCUE__ means any gateway.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1920240"/>
            <a:ext cx="36118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5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65176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Payload sealed with AES-256-GCM; identity fields signed with Ed25519.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36118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5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RELAY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Each hop decrements ttl, appends itself to the path and sends SOS before routine traffic.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4160520"/>
            <a:ext cx="36118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4297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5F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8920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Destination ACKs. A missed ACK retries on a recomputed route; no route means it is held.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7576" y="4160520"/>
            <a:ext cx="36118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4297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A5F"/>
                </a:solidFill>
                <a:latin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489204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Every send, forward, retry and drop is logged in SQLite. Metrics are queries over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05 · PHASE III · P1 MODULE-WISE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Four bugs that would have failed silently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Found by writing the tests, not by guessing. Each one is now a regression test.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05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GRAPH STUCK AT TWO HOPS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4203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Link-state reports weren't re-flooded past the first neighbour, so no node could learn a route beyond 2 hops. Fixed with origin + sequence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FAILURES NEVER PENALISED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Retry logic never told routing about a timed-out link, so the cost function's failure term was always zero. Now every ACK timeout updates the cost at once.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6052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34340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RETENTION QUEUE UNBOUNDED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78231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Store-and-forward had no limit. It now holds 500 messages for 30 minutes and evicts the lowest-priority first, so an SOS is never displaced.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34340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SIGNATURES BREAK AT HOP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78231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ttl, hop_count and path change at every relay, so signing them invalidates the signature after one hop. Now only fields that never change are signed.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06 · PHASE III · P2 GIT REPOSITORY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One repository, laid out so each concern has a home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06 /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394960" cy="46634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REPOSITORY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mesh/core/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the engine: 11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7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api/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3288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FastAPI + WebSocket server, mesh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62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sim/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9626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simulator runner and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924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story/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3924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real-socket multi-device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ui/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82219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React website (PWA)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tests/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2519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18 test files, 312 test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81727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docs/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68172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plan, SRS, algorithms,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114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Phase-2/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1114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UML diagrams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412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Consolas"/>
              </a:rPr>
              <a:t>config/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5412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node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5440680" cy="46634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WHAT WAS SET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Hosted on GitHub as a public repository, with all three members as contributors.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README, CONTRIBUTING.md (branches and commit style) and a .gitignore from the first day.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requirements.txt and pytest.ini so a fresh clone installs and tests in two commands.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docs/ holds the master project plan, SRS, algorithm design, contribution log and the report.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Tag v0.3-phase3 marks the end of Phase III.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07 · PHASE III · P3 BRANCHING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One branch per phase, each inheriting the 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A phase branch is a snapshot a reviewer can open, run and grade on its own.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07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011680" cy="21031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AA4B5"/>
                </a:solidFill>
                <a:latin typeface="Arial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EAD4"/>
                </a:solidFill>
                <a:latin typeface="Consolas"/>
              </a:rPr>
              <a:t>develop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5A5F"/>
                </a:solidFill>
                <a:latin typeface="Arial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2F4F8"/>
                </a:solidFill>
                <a:latin typeface="Arial"/>
              </a:rPr>
              <a:t>commits · packet, transport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14600" y="2880360"/>
            <a:ext cx="274320" cy="237744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965960"/>
            <a:ext cx="2011680" cy="21031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AA4B5"/>
                </a:solidFill>
                <a:latin typeface="Arial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EAD4"/>
                </a:solidFill>
                <a:latin typeface="Consolas"/>
              </a:rPr>
              <a:t>develop_2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5A5F"/>
                </a:solidFill>
                <a:latin typeface="Arial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337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2F4F8"/>
                </a:solidFill>
                <a:latin typeface="Arial"/>
              </a:rPr>
              <a:t>commits · discovery, relay, simulator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00600" y="2880360"/>
            <a:ext cx="274320" cy="237744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1965960"/>
            <a:ext cx="2011680" cy="21031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AA4B5"/>
                </a:solidFill>
                <a:latin typeface="Arial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EAD4"/>
                </a:solidFill>
                <a:latin typeface="Consolas"/>
              </a:rPr>
              <a:t>develop_3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5A5F"/>
                </a:solidFill>
                <a:latin typeface="Arial"/>
              </a:rPr>
              <a:t>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337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2F4F8"/>
                </a:solidFill>
                <a:latin typeface="Arial"/>
              </a:rPr>
              <a:t>commits · routing, reliability, crypto, store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86600" y="2880360"/>
            <a:ext cx="274320" cy="237744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1965960"/>
            <a:ext cx="2011680" cy="21031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AA4B5"/>
                </a:solidFill>
                <a:latin typeface="Arial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EAD4"/>
                </a:solidFill>
                <a:latin typeface="Consolas"/>
              </a:rPr>
              <a:t>develop_4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5A5F"/>
                </a:solidFill>
                <a:latin typeface="Arial"/>
              </a:rPr>
              <a:t>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337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2F4F8"/>
                </a:solidFill>
                <a:latin typeface="Arial"/>
              </a:rPr>
              <a:t>commits · API, website, tests, devices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72600" y="2880360"/>
            <a:ext cx="274320" cy="237744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6920" y="1965960"/>
            <a:ext cx="2011680" cy="21031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AA4B5"/>
                </a:solidFill>
                <a:latin typeface="Arial"/>
              </a:rPr>
              <a:t>PHASE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EAD4"/>
                </a:solidFill>
                <a:latin typeface="Consolas"/>
              </a:rPr>
              <a:t>develop_5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5A5F"/>
                </a:solidFill>
                <a:latin typeface="Arial"/>
              </a:rPr>
              <a:t>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3337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2F4F8"/>
                </a:solidFill>
                <a:latin typeface="Arial"/>
              </a:rPr>
              <a:t>commits · report and evaluation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389120"/>
            <a:ext cx="5440680" cy="17830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RULES WE AGREED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8920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Never merge between phase branches.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Each member runs their own git commands.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No force-pushes (one agreed exception, below).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389120"/>
            <a:ext cx="5440680" cy="17830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MAIN AND TAGS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8920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8"/>
                </a:solidFill>
                <a:latin typeface="Arial"/>
              </a:rPr>
              <a:t>main is reserved for tagged releases and holds one README commit today. Once, the history of develop_2 to develop_5 was rewritten to correct author names; file contents were identical.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08 · PHASE III · P3 COMMIT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Conventional Commits, small and often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08 /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86400" cy="46634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EEAD4"/>
                </a:solidFill>
                <a:latin typeface="Consolas"/>
              </a:rPr>
              <a:t>type(scope): short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REAL EXAMPLES FROM THE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feat(api): FastAPI + WebSocket server, mesh lab and virtual-time simulator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fix(reliability): make multi-hop ACK and retry actually work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test: configure pytest import path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docs: add Phase III presentation deck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chore: initialize mesh packages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40680" cy="30175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COMMITS BY TYPE (49 ON develop_5)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355080" y="1920240"/>
          <a:ext cx="52120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ectangle 15"/>
          <p:cNvSpPr/>
          <p:nvPr/>
        </p:nvSpPr>
        <p:spPr>
          <a:xfrm>
            <a:off x="6217920" y="4663440"/>
            <a:ext cx="5440680" cy="14630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7731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WHO COMMITTED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120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Tanvi 19  ·  Twissha 18  ·  Miti 12
All 5 "other" commits are from Phases 1 and 2; every commit since follows the convention.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09 · PHASE IV · P1 FRONT-END +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The website is a window onto the real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No mock data anywhere: every number on screen is read from a running Node and its SQLite log.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09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514600" cy="19202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React PWA, 9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4B5"/>
                </a:solidFill>
                <a:latin typeface="Consolas"/>
              </a:rPr>
              <a:t>ui/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35808" y="2926080"/>
            <a:ext cx="329184" cy="256032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103120"/>
            <a:ext cx="2514600" cy="19202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FastAPI: REST + 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520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4B5"/>
                </a:solidFill>
                <a:latin typeface="Consolas"/>
              </a:rPr>
              <a:t>api/server.py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26080"/>
            <a:ext cx="329184" cy="256032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03120"/>
            <a:ext cx="2514600" cy="19202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MESH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Real Node objects, one 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20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4B5"/>
                </a:solidFill>
                <a:latin typeface="Consolas"/>
              </a:rPr>
              <a:t>api/lab.py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96528" y="2926080"/>
            <a:ext cx="329184" cy="256032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2103120"/>
            <a:ext cx="2514600" cy="19202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240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F4F8"/>
                </a:solidFill>
                <a:latin typeface="Arial"/>
              </a:rPr>
              <a:t>Simulated radio or real TCP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520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4B5"/>
                </a:solidFill>
                <a:latin typeface="Consolas"/>
              </a:rPr>
              <a:t>transport_sim.py · story/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43400"/>
            <a:ext cx="3611880" cy="17830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452628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965192"/>
            <a:ext cx="3099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2F4F8"/>
                </a:solidFill>
                <a:latin typeface="Arial"/>
              </a:rPr>
              <a:t>Send a message or SOS, list peers, route and path costs, message history, statistics, switch nodes on and off.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343400"/>
            <a:ext cx="3611880" cy="17830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52628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WEBSOCKET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965192"/>
            <a:ext cx="3099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2F4F8"/>
                </a:solidFill>
                <a:latin typeface="Arial"/>
              </a:rPr>
              <a:t>Every engine event is pushed as it is logged: sent, forwarded, received, retried, held. The screen animates from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4343400"/>
            <a:ext cx="3566160" cy="17830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1" y="452628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965192"/>
            <a:ext cx="3054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2F4F8"/>
                </a:solidFill>
                <a:latin typeface="Arial"/>
              </a:rPr>
              <a:t>The same engine runs headless on a virtual clock, so 50 simulated mesh lifetimes take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10 · PHASE IV · P1 FRONT-END +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Two views, built for two kinds of 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10 / 19</a:t>
            </a:r>
          </a:p>
        </p:txBody>
      </p:sp>
      <p:pic>
        <p:nvPicPr>
          <p:cNvPr id="8" name="Picture 7" descr="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2594331" cy="4526280"/>
          </a:xfrm>
          <a:prstGeom prst="rect">
            <a:avLst/>
          </a:prstGeom>
          <a:ln w="12700">
            <a:solidFill>
              <a:srgbClr val="2A3548"/>
            </a:solidFill>
          </a:ln>
        </p:spPr>
      </p:pic>
      <p:pic>
        <p:nvPicPr>
          <p:cNvPr id="9" name="Picture 8" descr="resc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371600"/>
            <a:ext cx="5577840" cy="3508641"/>
          </a:xfrm>
          <a:prstGeom prst="rect">
            <a:avLst/>
          </a:prstGeom>
          <a:ln w="12700">
            <a:solidFill>
              <a:srgbClr val="2A354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89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EAD4"/>
                </a:solidFill>
                <a:latin typeface="Arial"/>
              </a:rPr>
              <a:t>NODE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EAD4"/>
                </a:solidFill>
                <a:latin typeface="Arial"/>
              </a:rPr>
              <a:t>RESCUE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3492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8"/>
                </a:solidFill>
                <a:latin typeface="Arial"/>
              </a:rPr>
              <a:t>Both read the same running mesh. Send an SOS on the left and it appears in the queue on the right with the route it took.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463040"/>
            <a:ext cx="2423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2F4F8"/>
                </a:solidFill>
                <a:latin typeface="Arial"/>
              </a:rPr>
              <a:t>NODE VIEW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F2F4F8"/>
                </a:solidFill>
                <a:latin typeface="Arial"/>
              </a:rPr>
              <a:t>Long-press to arm the SOS button.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F2F4F8"/>
                </a:solidFill>
                <a:latin typeface="Arial"/>
              </a:rPr>
              <a:t>Who is reachable and how many hops.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F2F4F8"/>
                </a:solidFill>
                <a:latin typeface="Arial"/>
              </a:rPr>
              <a:t>Each message: sending, relayed via N nodes, delivered.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F2F4F8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F2F4F8"/>
                </a:solidFill>
                <a:latin typeface="Arial"/>
              </a:rPr>
              <a:t>RESCUE DASHBOARD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F2F4F8"/>
                </a:solidFill>
                <a:latin typeface="Arial"/>
              </a:rPr>
              <a:t>Live mesh graph.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F2F4F8"/>
                </a:solidFill>
                <a:latin typeface="Arial"/>
              </a:rPr>
              <a:t>SOS queue with sender, route and time since sent.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F2F4F8"/>
                </a:solidFill>
                <a:latin typeface="Arial"/>
              </a:rPr>
              <a:t>Delivery log and live statistics.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11 · PHASE IV · P1 FRONT-END +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Integration found what unit tests could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Wiring the screens to the engine exposed four defects. Each is fixed and has a regression test.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11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MULTI-HOP ACKS WERE DROPPED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4203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8"/>
                </a:solidFill>
                <a:latin typeface="Arial"/>
              </a:rPr>
              <a:t>Duplicate filtering keyed on msg_id alone dropped an ACK at the first relay its DATA had crossed, and swallowed retries. Fixed with a (type, msg_id, attempt) key and a retry counter in the header.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LINK QUALITY WAS NEVER 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8"/>
                </a:solidFill>
                <a:latin typeface="Arial"/>
              </a:rPr>
              <a:t>Nothing fed the cost function, so every link looked perfect. It is now measured from HELLO reception, which is what makes weighted routing win.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6052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34340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DEAD NODES STAYED ROUTABLE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78231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8"/>
                </a:solidFill>
                <a:latin typeface="Arial"/>
              </a:rPr>
              <a:t>A newer link-state report added edges but never removed them, so distant nodes kept routing through a dead one. A report now replaces the old 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343400"/>
            <a:ext cx="4928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FUZZING AND SHUTDOWN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782312"/>
            <a:ext cx="49286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8"/>
                </a:solidFill>
                <a:latin typeface="Arial"/>
              </a:rPr>
              <a:t>Random bytes showed a parser raising the wrong exception on non-ASCII node ids, and Node.stop() could hang on Windows. Both fixed.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12 · PHASE IV · P1 FRONT-END +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From the simulator to real sockets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story/ runs each device as its own process with its own TCP port and web page.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12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2697480" cy="20116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84832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47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median SOS latency to the rescue node (p95 102 ms, 30 of 30 acknowledged)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920240"/>
            <a:ext cx="2697480" cy="20116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84832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~4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546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average reroute after a relay is killed; all 8 trials still delivered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2697480" cy="20116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84832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4.2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546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average to flush 5 held SOS messages once the gateway returns (4 of 4 trials)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920240"/>
            <a:ext cx="2697480" cy="20116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084832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3.8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1546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from starting 5 processes to every node knowing the whole mesh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06240"/>
            <a:ext cx="11155680" cy="19202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HOW IT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python -m story.local starts all five devices on one machine; python -m story.node --id L1 starts one per laptop.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A topology file decides who can hear whom, which emulates radio range on a flat Wi-Fi network.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The two-laptop split worked over a phone hotspot with three devices on one laptop and two on the other.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13 · PHASE IV · P2 FUNCTIONAL AND NON-FUNCTIONAL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Two questions: does it work, and how well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13 /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2651760" cy="17373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automated test cases across 18 files; all pass on the latest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51760" cy="17373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276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functional requirements, each traced to the test or check that verifies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2651760" cy="17373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276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20-50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seeded simulation runs per scenario, with packet loss and injected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463040"/>
            <a:ext cx="2651760" cy="17373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6276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EEAD4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B5"/>
                </a:solidFill>
                <a:latin typeface="Arial"/>
              </a:rPr>
              <a:t>website pages walked through in a real browser, with no console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29000"/>
            <a:ext cx="5440680" cy="22402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FUNCTIONAL: DOES IT DO WHAT THE SRS SAYS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776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Unit tests for each module.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Integration tests across modules and over the API.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A scripted browser run through every page and all six demo beats.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429000"/>
            <a:ext cx="5440680" cy="22402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NON-FUNCTIONAL: HOW WELL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Performance, delivery and recovery against 10 targets (KPIs).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Scalability to 65 simulated nodes.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Security attacks, fuzzing and real-socket tests.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Consolas"/>
              </a:rPr>
              <a:t>Re-run everything with one command:  python -m pytest -q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14 · PHASE IV · P2 FUNCTIONAL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Every requirement traced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68 functional requirements: 52 by automated tests alone, 10 by tests plus a manual look at the screen.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14 / 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011680"/>
          <a:ext cx="1115567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3133"/>
                <a:gridCol w="1526566"/>
                <a:gridCol w="6575979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TESTS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WHAT IS PROVEN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Discovery and neighbours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HELLO, neighbour table, death after 10 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Routing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gossip, Dijkstra, weighted path beats shorter path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Reliability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priority, dedup, ACK, retry, bounded store-and-forward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relay cannot decrypt; forged and tampered rejected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Storage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message, event and peer log queries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API and website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12 + browser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F4F8"/>
                          </a:solidFill>
                          <a:latin typeface="Arial"/>
                        </a:rPr>
                        <a:t>REST, WebSocket, 9 pages, six demo beats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C85C"/>
                </a:solidFill>
                <a:latin typeface="Arial"/>
              </a:rPr>
              <a:t>Not fully met: 2 requirements are partial (immediate flush when a new neighbour appears; a history filter on the screens), 2 are verified by code inspection and 2 by a manual check only.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15 · PHASE IV · P2 NON-FUNCTIONAL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Ten targets, measured, and honest about the misses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15 /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77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277"/>
                <a:gridCol w="1369995"/>
                <a:gridCol w="6262837"/>
                <a:gridCol w="978568"/>
              </a:tblGrid>
              <a:tr h="42062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MEASURED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101A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Delivery ratio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&gt;= 90%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92.6% over 50 runs (40 nodes, 20% loss, failures)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A0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Convergence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&lt;= 15 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9.6 s mean; 47 of 50 runs within target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A0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Recovery after relay death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&lt;= 10 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8.1 s mean, but 27 of 50 runs took 10.2 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C85C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SOS latency advantage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&gt;= 3x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4.4x faster than routine traffic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A0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Store-and-forward flush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201 of 201 flushed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A0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Weighted vs hop-count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weighted wins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99.2% against 57.4%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A0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50 nodes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100% at 5% loss; 88.2% at 20% loss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C85C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Screen freshness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&lt;= 2 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API median 16 ms; screens poll every 0.7 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A0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Correctness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all pass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311 of 312 in all 3 runs; 1 timing-sensitive test failed once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C85C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all hold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2F4F8"/>
                          </a:solidFill>
                          <a:latin typeface="Arial"/>
                        </a:rPr>
                        <a:t>no decrypt at relays; forged and tampered rejected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A0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anchor="t">
                    <a:solidFill>
                      <a:srgbClr val="141C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16 · PHASE IV · P2 NON-FUNCTIONAL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The two results that carry the design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16 /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40680" cy="47548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WEIGHTED ROUTING VS HOP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4B5"/>
                </a:solidFill>
                <a:latin typeface="Arial"/>
              </a:rPr>
              <a:t>delivery % on identical seeds, 20 runs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194560"/>
          <a:ext cx="49377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6217920" y="1371600"/>
            <a:ext cx="5440680" cy="47548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DELIVERY AS THE MESH GROWS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4B5"/>
                </a:solidFill>
                <a:latin typeface="Arial"/>
              </a:rPr>
              <a:t>delivery % against number of nodes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446520" y="2194560"/>
          <a:ext cx="502920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17 · PHASE IV · P3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A 55-page report whose numbers come from the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17 /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40680" cy="46634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ELEVEN CHAPTERS, AS THE GUIDELINES REQUIRE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1 Introduction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2 Literature survey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3 Requirements (SRS)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4 Design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5 Algorithms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6 Subjects applied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4884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7 Implementation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8 Performance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9 Testing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10 Results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11 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40680" cy="237744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EVIDENCE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8"/>
                </a:solidFill>
                <a:latin typeface="Arial"/>
              </a:rPr>
              <a:t>Measurements are saved as JSON, scripts turn them into LaTeX tables and number macros, and the report includes them. Every number in Chapters 8 to 10 comes from those measurements, so a code change can be re-measured and the tables rebuilt.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69080"/>
            <a:ext cx="5440680" cy="2057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BUILT 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2F4F8"/>
                </a:solidFill>
                <a:latin typeface="Arial"/>
              </a:rPr>
              <a:t>The department Overleaf template and the Mini Project Report Preparation Guidelines.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2F4F8"/>
                </a:solidFill>
                <a:latin typeface="Arial"/>
              </a:rPr>
              <a:t>12 pages of front matter, 11 chapters and references.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2F4F8"/>
                </a:solidFill>
                <a:latin typeface="Arial"/>
              </a:rPr>
              <a:t>Source in docs/report/latex; PDF in docs/report.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18 ·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What is done, what is left, what we are honest about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18 /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611880" cy="3749039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4592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A0"/>
                </a:solidFill>
                <a:latin typeface="Arial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84832"/>
            <a:ext cx="3099816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2F4F8"/>
                </a:solidFill>
                <a:latin typeface="Arial"/>
              </a:rPr>
              <a:t>Engine, API, website, simulator with seven scenarios, real-socket demo, 312 tests, the report and this deck.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3749039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5A5F"/>
                </a:solidFill>
                <a:latin typeface="Arial"/>
              </a:rPr>
              <a:t>STILL TO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Poster or paper for the end-semester evaluation.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Plagiarism report.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Photo of the two-laptop run for Chapter 10.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Printed, bound copy and the guide's review.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Optional usability test with 5 people.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3566160" cy="3749039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C85C"/>
                </a:solidFill>
                <a:latin typeface="Arial"/>
              </a:rPr>
              <a:t>KNOWN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No radio hardware: the radio is a neighbour-restricted LAN.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One shared key for the whole mesh.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Recovery is bounded by the 10 s heartbeat.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Delivery drops below 90% past about 43 nodes at 20% loss.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No automated browser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EAD4"/>
                </a:solidFill>
                <a:latin typeface="Arial"/>
              </a:rPr>
              <a:t>What remains is documentation and evaluation material, not engine code.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5A5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2F4F8"/>
                </a:solidFill>
                <a:latin typeface="Arial"/>
              </a:rPr>
              <a:t>Questions?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114800"/>
            <a:ext cx="10881360" cy="0"/>
          </a:xfrm>
          <a:prstGeom prst="line">
            <a:avLst/>
          </a:prstGeom>
          <a:ln w="1270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EEAD4"/>
                </a:solidFill>
                <a:latin typeface="Consolas"/>
              </a:rPr>
              <a:t>github.com/tanvisheth1234-wq/miniproject   ·   branch develop_5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4B5"/>
                </a:solidFill>
                <a:latin typeface="Arial"/>
              </a:rPr>
              <a:t>Miti Shah  ·  Twissha Shah  ·  Tanvi Sheth        Guide: Prof. Anuj Tawari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